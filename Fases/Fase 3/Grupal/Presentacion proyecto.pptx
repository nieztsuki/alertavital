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Poppins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y2xlfZCJL08Pg+3Uv19myKBMJ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hyperlink" Target="https://media.discordapp.net/attachments/1235903958900281436/1437292898738507837/AlertaVital.png?ex=6912b6d2&amp;is=69116552&amp;hm=71c3eac42b20736fc9a13932e87bb85f106b70410511681cf1a5240c9d42da64&amp;=&amp;format=webp&amp;quality=lossless&amp;width=625&amp;height=625" TargetMode="External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11" Type="http://schemas.openxmlformats.org/officeDocument/2006/relationships/image" Target="../media/image29.png"/><Relationship Id="rId10" Type="http://schemas.openxmlformats.org/officeDocument/2006/relationships/image" Target="../media/image25.png"/><Relationship Id="rId12" Type="http://schemas.openxmlformats.org/officeDocument/2006/relationships/image" Target="../media/image15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hyperlink" Target="https://media.discordapp.net/attachments/1235903958900281436/1437292898738507837/AlertaVital.png?ex=6912b6d2&amp;is=69116552&amp;hm=71c3eac42b20736fc9a13932e87bb85f106b70410511681cf1a5240c9d42da64&amp;=&amp;format=webp&amp;quality=lossless&amp;width=625&amp;height=625" TargetMode="External"/><Relationship Id="rId5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hyperlink" Target="https://github.com/NiezTsuki/AlertaVital/tree/devel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524141">
            <a:off x="11761522" y="4116482"/>
            <a:ext cx="7307079" cy="9870000"/>
            <a:chOff x="0" y="-38100"/>
            <a:chExt cx="665246" cy="898578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907507" y="2396837"/>
            <a:ext cx="14168570" cy="5035295"/>
            <a:chOff x="0" y="-38100"/>
            <a:chExt cx="3731640" cy="1326168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3731640" cy="1288068"/>
            </a:xfrm>
            <a:custGeom>
              <a:rect b="b" l="l" r="r" t="t"/>
              <a:pathLst>
                <a:path extrusionOk="0"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5525540" y="3416034"/>
            <a:ext cx="11057710" cy="1823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9" u="none" cap="none" strike="noStrike">
                <a:solidFill>
                  <a:srgbClr val="6B64B8"/>
                </a:solidFill>
                <a:latin typeface="Poppins"/>
                <a:ea typeface="Poppins"/>
                <a:cs typeface="Poppins"/>
                <a:sym typeface="Poppins"/>
              </a:rPr>
              <a:t>AlertaVital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-187319" y="2979927"/>
            <a:ext cx="4194964" cy="3548283"/>
          </a:xfrm>
          <a:custGeom>
            <a:rect b="b" l="l" r="r" t="t"/>
            <a:pathLst>
              <a:path extrusionOk="0" h="3548283" w="4194964">
                <a:moveTo>
                  <a:pt x="0" y="0"/>
                </a:moveTo>
                <a:lnTo>
                  <a:pt x="4194964" y="0"/>
                </a:lnTo>
                <a:lnTo>
                  <a:pt x="4194964" y="3548283"/>
                </a:lnTo>
                <a:lnTo>
                  <a:pt x="0" y="3548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675" l="-1472" r="-5675" t="0"/>
            </a:stretch>
          </a:blipFill>
          <a:ln>
            <a:noFill/>
          </a:ln>
        </p:spPr>
      </p:sp>
      <p:grpSp>
        <p:nvGrpSpPr>
          <p:cNvPr id="95" name="Google Shape;95;p1"/>
          <p:cNvGrpSpPr/>
          <p:nvPr/>
        </p:nvGrpSpPr>
        <p:grpSpPr>
          <a:xfrm rot="524141">
            <a:off x="-548407" y="-1809294"/>
            <a:ext cx="4544240" cy="6138110"/>
            <a:chOff x="0" y="-38100"/>
            <a:chExt cx="665246" cy="898578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 rot="524141">
            <a:off x="11913922" y="4268882"/>
            <a:ext cx="7307079" cy="9870000"/>
            <a:chOff x="0" y="-38100"/>
            <a:chExt cx="665246" cy="898578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3059907" y="2549237"/>
            <a:ext cx="14168570" cy="5035295"/>
            <a:chOff x="0" y="-38100"/>
            <a:chExt cx="3731640" cy="1326168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3731640" cy="1288068"/>
            </a:xfrm>
            <a:custGeom>
              <a:rect b="b" l="l" r="r" t="t"/>
              <a:pathLst>
                <a:path extrusionOk="0"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5560042" y="6245457"/>
            <a:ext cx="10491831" cy="420845"/>
            <a:chOff x="0" y="-38100"/>
            <a:chExt cx="2763281" cy="110840"/>
          </a:xfrm>
        </p:grpSpPr>
        <p:sp>
          <p:nvSpPr>
            <p:cNvPr id="105" name="Google Shape;105;p1"/>
            <p:cNvSpPr/>
            <p:nvPr/>
          </p:nvSpPr>
          <p:spPr>
            <a:xfrm>
              <a:off x="0" y="0"/>
              <a:ext cx="2763281" cy="72740"/>
            </a:xfrm>
            <a:custGeom>
              <a:rect b="b" l="l" r="r" t="t"/>
              <a:pathLst>
                <a:path extrusionOk="0" h="72740" w="2763281">
                  <a:moveTo>
                    <a:pt x="36370" y="0"/>
                  </a:moveTo>
                  <a:lnTo>
                    <a:pt x="2726911" y="0"/>
                  </a:lnTo>
                  <a:cubicBezTo>
                    <a:pt x="2736557" y="0"/>
                    <a:pt x="2745808" y="3832"/>
                    <a:pt x="2752628" y="10652"/>
                  </a:cubicBezTo>
                  <a:cubicBezTo>
                    <a:pt x="2759449" y="17473"/>
                    <a:pt x="2763281" y="26724"/>
                    <a:pt x="2763281" y="36370"/>
                  </a:cubicBezTo>
                  <a:lnTo>
                    <a:pt x="2763281" y="36370"/>
                  </a:lnTo>
                  <a:cubicBezTo>
                    <a:pt x="2763281" y="56456"/>
                    <a:pt x="2746997" y="72740"/>
                    <a:pt x="2726911" y="72740"/>
                  </a:cubicBezTo>
                  <a:lnTo>
                    <a:pt x="36370" y="72740"/>
                  </a:lnTo>
                  <a:cubicBezTo>
                    <a:pt x="26724" y="72740"/>
                    <a:pt x="17473" y="68908"/>
                    <a:pt x="10652" y="62087"/>
                  </a:cubicBezTo>
                  <a:cubicBezTo>
                    <a:pt x="3832" y="55267"/>
                    <a:pt x="0" y="46016"/>
                    <a:pt x="0" y="36370"/>
                  </a:cubicBezTo>
                  <a:lnTo>
                    <a:pt x="0" y="36370"/>
                  </a:lnTo>
                  <a:cubicBezTo>
                    <a:pt x="0" y="26724"/>
                    <a:pt x="3832" y="17473"/>
                    <a:pt x="10652" y="10652"/>
                  </a:cubicBezTo>
                  <a:cubicBezTo>
                    <a:pt x="17473" y="3832"/>
                    <a:pt x="26724" y="0"/>
                    <a:pt x="36370" y="0"/>
                  </a:cubicBezTo>
                  <a:close/>
                </a:path>
              </a:pathLst>
            </a:custGeom>
            <a:solidFill>
              <a:srgbClr val="FF5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38100"/>
              <a:ext cx="2763281" cy="110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-366640" y="1181100"/>
            <a:ext cx="5069887" cy="10029185"/>
            <a:chOff x="0" y="0"/>
            <a:chExt cx="2620010" cy="5182870"/>
          </a:xfrm>
        </p:grpSpPr>
        <p:sp>
          <p:nvSpPr>
            <p:cNvPr id="108" name="Google Shape;108;p1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">
            <a:hlinkClick r:id="rId4"/>
          </p:cNvPr>
          <p:cNvSpPr/>
          <p:nvPr/>
        </p:nvSpPr>
        <p:spPr>
          <a:xfrm>
            <a:off x="1263975" y="4058535"/>
            <a:ext cx="1808659" cy="2006834"/>
          </a:xfrm>
          <a:custGeom>
            <a:rect b="b" l="l" r="r" t="t"/>
            <a:pathLst>
              <a:path extrusionOk="0"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"/>
          <p:cNvSpPr/>
          <p:nvPr/>
        </p:nvSpPr>
        <p:spPr>
          <a:xfrm>
            <a:off x="-34919" y="3132327"/>
            <a:ext cx="4194964" cy="3548283"/>
          </a:xfrm>
          <a:custGeom>
            <a:rect b="b" l="l" r="r" t="t"/>
            <a:pathLst>
              <a:path extrusionOk="0" h="3548283" w="4194964">
                <a:moveTo>
                  <a:pt x="0" y="0"/>
                </a:moveTo>
                <a:lnTo>
                  <a:pt x="4194964" y="0"/>
                </a:lnTo>
                <a:lnTo>
                  <a:pt x="4194964" y="3548283"/>
                </a:lnTo>
                <a:lnTo>
                  <a:pt x="0" y="3548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675" l="-1472" r="-5675" t="0"/>
            </a:stretch>
          </a:blipFill>
          <a:ln>
            <a:noFill/>
          </a:ln>
        </p:spPr>
      </p:sp>
      <p:sp>
        <p:nvSpPr>
          <p:cNvPr id="119" name="Google Shape;119;p1"/>
          <p:cNvSpPr txBox="1"/>
          <p:nvPr/>
        </p:nvSpPr>
        <p:spPr>
          <a:xfrm>
            <a:off x="5677940" y="3568434"/>
            <a:ext cx="11057710" cy="1823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9" u="none" cap="none" strike="noStrike">
                <a:solidFill>
                  <a:srgbClr val="6B64B8"/>
                </a:solidFill>
                <a:latin typeface="Poppins"/>
                <a:ea typeface="Poppins"/>
                <a:cs typeface="Poppins"/>
                <a:sym typeface="Poppins"/>
              </a:rPr>
              <a:t>ALERTA VITAL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8780360" y="5357475"/>
            <a:ext cx="4051196" cy="59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Salvando vidas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 rot="524141">
            <a:off x="11761522" y="4116482"/>
            <a:ext cx="7307079" cy="9870000"/>
            <a:chOff x="0" y="-38100"/>
            <a:chExt cx="665246" cy="898578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2"/>
          <p:cNvSpPr txBox="1"/>
          <p:nvPr/>
        </p:nvSpPr>
        <p:spPr>
          <a:xfrm>
            <a:off x="5357482" y="1047750"/>
            <a:ext cx="7573035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Competencias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028700" y="2961897"/>
            <a:ext cx="16313242" cy="4248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9085" lvl="1" marL="85817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EAF2FF"/>
              </a:buClr>
              <a:buSzPts val="3974"/>
              <a:buFont typeface="Arial"/>
              <a:buChar char="•"/>
            </a:pPr>
            <a:r>
              <a:rPr b="1" i="0" lang="en-US" sz="3974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Gestionar proyectos informáticos</a:t>
            </a:r>
            <a:endParaRPr/>
          </a:p>
          <a:p>
            <a:pPr indent="-429085" lvl="1" marL="85817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EAF2FF"/>
              </a:buClr>
              <a:buSzPts val="3974"/>
              <a:buFont typeface="Arial"/>
              <a:buChar char="•"/>
            </a:pPr>
            <a:r>
              <a:rPr b="1" i="0" lang="en-US" sz="3974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Desarrollar una solución de software</a:t>
            </a:r>
            <a:endParaRPr/>
          </a:p>
          <a:p>
            <a:pPr indent="-429085" lvl="1" marL="85817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EAF2FF"/>
              </a:buClr>
              <a:buSzPts val="3974"/>
              <a:buFont typeface="Arial"/>
              <a:buChar char="•"/>
            </a:pPr>
            <a:r>
              <a:rPr b="1" i="0" lang="en-US" sz="3974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Construir Modelos de datos</a:t>
            </a:r>
            <a:endParaRPr/>
          </a:p>
          <a:p>
            <a:pPr indent="-429085" lvl="1" marL="85817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EAF2FF"/>
              </a:buClr>
              <a:buSzPts val="3974"/>
              <a:buFont typeface="Arial"/>
              <a:buChar char="•"/>
            </a:pPr>
            <a:r>
              <a:rPr b="1" i="0" lang="en-US" sz="3974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Programar consultas o rutinas para manipular información</a:t>
            </a:r>
            <a:endParaRPr/>
          </a:p>
          <a:p>
            <a:pPr indent="-429085" lvl="1" marL="85817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EAF2FF"/>
              </a:buClr>
              <a:buSzPts val="3974"/>
              <a:buFont typeface="Arial"/>
              <a:buChar char="•"/>
            </a:pPr>
            <a:r>
              <a:rPr b="1" i="0" lang="en-US" sz="3974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Construir el modelo arquitectónico</a:t>
            </a:r>
            <a:endParaRPr/>
          </a:p>
          <a:p>
            <a:pPr indent="-429085" lvl="1" marL="85817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EAF2FF"/>
              </a:buClr>
              <a:buSzPts val="3974"/>
              <a:buFont typeface="Arial"/>
              <a:buChar char="•"/>
            </a:pPr>
            <a:r>
              <a:rPr b="1" i="0" lang="en-US" sz="3974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Ofrecer propuestas de solución informática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3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3"/>
          <p:cNvGrpSpPr/>
          <p:nvPr/>
        </p:nvGrpSpPr>
        <p:grpSpPr>
          <a:xfrm rot="524141">
            <a:off x="11761522" y="4116482"/>
            <a:ext cx="7307079" cy="9870000"/>
            <a:chOff x="0" y="-38100"/>
            <a:chExt cx="665246" cy="898578"/>
          </a:xfrm>
        </p:grpSpPr>
        <p:sp>
          <p:nvSpPr>
            <p:cNvPr id="141" name="Google Shape;141;p3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3"/>
          <p:cNvSpPr/>
          <p:nvPr/>
        </p:nvSpPr>
        <p:spPr>
          <a:xfrm>
            <a:off x="3458355" y="1028700"/>
            <a:ext cx="9834219" cy="8385907"/>
          </a:xfrm>
          <a:custGeom>
            <a:rect b="b" l="l" r="r" t="t"/>
            <a:pathLst>
              <a:path extrusionOk="0" h="8385907" w="9834219">
                <a:moveTo>
                  <a:pt x="0" y="0"/>
                </a:moveTo>
                <a:lnTo>
                  <a:pt x="9834219" y="0"/>
                </a:lnTo>
                <a:lnTo>
                  <a:pt x="9834219" y="8385907"/>
                </a:lnTo>
                <a:lnTo>
                  <a:pt x="0" y="8385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3"/>
          <p:cNvSpPr/>
          <p:nvPr/>
        </p:nvSpPr>
        <p:spPr>
          <a:xfrm>
            <a:off x="9144000" y="1901093"/>
            <a:ext cx="9202524" cy="6901893"/>
          </a:xfrm>
          <a:custGeom>
            <a:rect b="b" l="l" r="r" t="t"/>
            <a:pathLst>
              <a:path extrusionOk="0" h="6901893" w="9202524">
                <a:moveTo>
                  <a:pt x="0" y="0"/>
                </a:moveTo>
                <a:lnTo>
                  <a:pt x="9202524" y="0"/>
                </a:lnTo>
                <a:lnTo>
                  <a:pt x="9202524" y="6901893"/>
                </a:lnTo>
                <a:lnTo>
                  <a:pt x="0" y="6901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3"/>
          <p:cNvSpPr/>
          <p:nvPr/>
        </p:nvSpPr>
        <p:spPr>
          <a:xfrm>
            <a:off x="303103" y="7283220"/>
            <a:ext cx="2496892" cy="3003780"/>
          </a:xfrm>
          <a:custGeom>
            <a:rect b="b" l="l" r="r" t="t"/>
            <a:pathLst>
              <a:path extrusionOk="0" h="3003780" w="2496892">
                <a:moveTo>
                  <a:pt x="0" y="0"/>
                </a:moveTo>
                <a:lnTo>
                  <a:pt x="2496892" y="0"/>
                </a:lnTo>
                <a:lnTo>
                  <a:pt x="2496892" y="3003780"/>
                </a:lnTo>
                <a:lnTo>
                  <a:pt x="0" y="3003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3"/>
          <p:cNvSpPr txBox="1"/>
          <p:nvPr/>
        </p:nvSpPr>
        <p:spPr>
          <a:xfrm>
            <a:off x="802429" y="2275724"/>
            <a:ext cx="6882473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Problemática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802429" y="3718208"/>
            <a:ext cx="7920451" cy="250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1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8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Chile, los adultos mayores </a:t>
            </a:r>
            <a:r>
              <a:rPr b="1" i="0" lang="en-US" sz="328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enfrentan soledad, aislamiento social y baja resiliencia tras la pandemia.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"/>
          <p:cNvGrpSpPr/>
          <p:nvPr/>
        </p:nvGrpSpPr>
        <p:grpSpPr>
          <a:xfrm rot="524141">
            <a:off x="-2252356" y="-4603607"/>
            <a:ext cx="4544240" cy="6138110"/>
            <a:chOff x="0" y="-38100"/>
            <a:chExt cx="665246" cy="898578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7032880" y="3292489"/>
            <a:ext cx="12687804" cy="9870000"/>
            <a:chOff x="0" y="-38100"/>
            <a:chExt cx="1155115" cy="898578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7649490" y="4250465"/>
            <a:ext cx="639485" cy="639485"/>
            <a:chOff x="0" y="0"/>
            <a:chExt cx="812800" cy="812800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7649490" y="6998221"/>
            <a:ext cx="639485" cy="639485"/>
            <a:chOff x="0" y="0"/>
            <a:chExt cx="812800" cy="812800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4"/>
          <p:cNvSpPr/>
          <p:nvPr/>
        </p:nvSpPr>
        <p:spPr>
          <a:xfrm>
            <a:off x="601784" y="5417297"/>
            <a:ext cx="3848815" cy="4486234"/>
          </a:xfrm>
          <a:custGeom>
            <a:rect b="b" l="l" r="r" t="t"/>
            <a:pathLst>
              <a:path extrusionOk="0" h="4486234" w="3848815">
                <a:moveTo>
                  <a:pt x="0" y="0"/>
                </a:moveTo>
                <a:lnTo>
                  <a:pt x="3848815" y="0"/>
                </a:lnTo>
                <a:lnTo>
                  <a:pt x="3848815" y="4486234"/>
                </a:lnTo>
                <a:lnTo>
                  <a:pt x="0" y="4486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4"/>
          <p:cNvSpPr/>
          <p:nvPr/>
        </p:nvSpPr>
        <p:spPr>
          <a:xfrm>
            <a:off x="5176595" y="1028700"/>
            <a:ext cx="12678330" cy="8874831"/>
          </a:xfrm>
          <a:custGeom>
            <a:rect b="b" l="l" r="r" t="t"/>
            <a:pathLst>
              <a:path extrusionOk="0" h="8874831" w="12678330">
                <a:moveTo>
                  <a:pt x="0" y="0"/>
                </a:moveTo>
                <a:lnTo>
                  <a:pt x="12678330" y="0"/>
                </a:lnTo>
                <a:lnTo>
                  <a:pt x="12678330" y="8874831"/>
                </a:lnTo>
                <a:lnTo>
                  <a:pt x="0" y="8874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4"/>
          <p:cNvSpPr txBox="1"/>
          <p:nvPr/>
        </p:nvSpPr>
        <p:spPr>
          <a:xfrm>
            <a:off x="143385" y="205751"/>
            <a:ext cx="4765612" cy="45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5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Baja Resiliencia en </a:t>
            </a:r>
            <a:endParaRPr/>
          </a:p>
          <a:p>
            <a:pPr indent="0" lvl="0" marL="0" marR="0" rtl="0" algn="ctr">
              <a:lnSpc>
                <a:spcPct val="106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5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Adultos Mayores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5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/>
          <p:cNvSpPr txBox="1"/>
          <p:nvPr/>
        </p:nvSpPr>
        <p:spPr>
          <a:xfrm rot="560043">
            <a:off x="10968029" y="9836925"/>
            <a:ext cx="1137822" cy="11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  <a:endParaRPr/>
          </a:p>
        </p:txBody>
      </p:sp>
      <p:grpSp>
        <p:nvGrpSpPr>
          <p:cNvPr id="175" name="Google Shape;175;p5"/>
          <p:cNvGrpSpPr/>
          <p:nvPr/>
        </p:nvGrpSpPr>
        <p:grpSpPr>
          <a:xfrm rot="1605793">
            <a:off x="11230742" y="5376677"/>
            <a:ext cx="12687804" cy="9870000"/>
            <a:chOff x="0" y="-38100"/>
            <a:chExt cx="1155115" cy="898578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5"/>
          <p:cNvGrpSpPr/>
          <p:nvPr/>
        </p:nvGrpSpPr>
        <p:grpSpPr>
          <a:xfrm>
            <a:off x="10210078" y="2748149"/>
            <a:ext cx="5098077" cy="10084950"/>
            <a:chOff x="0" y="0"/>
            <a:chExt cx="2620010" cy="5182870"/>
          </a:xfrm>
        </p:grpSpPr>
        <p:sp>
          <p:nvSpPr>
            <p:cNvPr id="179" name="Google Shape;179;p5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10210078" y="2748149"/>
            <a:ext cx="5098077" cy="10084950"/>
            <a:chOff x="0" y="0"/>
            <a:chExt cx="2620010" cy="5182870"/>
          </a:xfrm>
        </p:grpSpPr>
        <p:sp>
          <p:nvSpPr>
            <p:cNvPr id="189" name="Google Shape;189;p5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5"/>
          <p:cNvSpPr/>
          <p:nvPr/>
        </p:nvSpPr>
        <p:spPr>
          <a:xfrm>
            <a:off x="10804509" y="5305219"/>
            <a:ext cx="3909214" cy="3548283"/>
          </a:xfrm>
          <a:custGeom>
            <a:rect b="b" l="l" r="r" t="t"/>
            <a:pathLst>
              <a:path extrusionOk="0" h="3548283" w="3909214">
                <a:moveTo>
                  <a:pt x="0" y="0"/>
                </a:moveTo>
                <a:lnTo>
                  <a:pt x="3909214" y="0"/>
                </a:lnTo>
                <a:lnTo>
                  <a:pt x="3909214" y="3548283"/>
                </a:lnTo>
                <a:lnTo>
                  <a:pt x="0" y="3548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675" l="-8887" r="-6090" t="0"/>
            </a:stretch>
          </a:blipFill>
          <a:ln>
            <a:noFill/>
          </a:ln>
        </p:spPr>
      </p:sp>
      <p:sp>
        <p:nvSpPr>
          <p:cNvPr id="199" name="Google Shape;199;p5"/>
          <p:cNvSpPr txBox="1"/>
          <p:nvPr/>
        </p:nvSpPr>
        <p:spPr>
          <a:xfrm>
            <a:off x="1028700" y="1758767"/>
            <a:ext cx="7115424" cy="272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17" u="none" cap="none" strike="noStrike">
                <a:solidFill>
                  <a:srgbClr val="F7B8D2"/>
                </a:solidFill>
                <a:latin typeface="Poppins"/>
                <a:ea typeface="Poppins"/>
                <a:cs typeface="Poppins"/>
                <a:sym typeface="Poppins"/>
              </a:rPr>
              <a:t>Nuestra </a:t>
            </a:r>
            <a:endParaRPr/>
          </a:p>
          <a:p>
            <a:pPr indent="0" lvl="0" marL="0" marR="0" rtl="0" algn="r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1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028700" y="5029200"/>
            <a:ext cx="8115300" cy="2386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b="1" i="0" lang="en-US" sz="314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aplicación móvil fácil intuitiva</a:t>
            </a:r>
            <a:r>
              <a:rPr b="0" i="0" lang="en-US" sz="314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para que los adultos mayores puedan </a:t>
            </a:r>
            <a:r>
              <a:rPr b="1" i="0" lang="en-US" sz="314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enviar alertas de emergencia a sus cuidadores.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6"/>
          <p:cNvGrpSpPr/>
          <p:nvPr/>
        </p:nvGrpSpPr>
        <p:grpSpPr>
          <a:xfrm rot="524141">
            <a:off x="-623647" y="-4549276"/>
            <a:ext cx="4544240" cy="6138110"/>
            <a:chOff x="0" y="-38100"/>
            <a:chExt cx="665246" cy="898578"/>
          </a:xfrm>
        </p:grpSpPr>
        <p:sp>
          <p:nvSpPr>
            <p:cNvPr id="206" name="Google Shape;206;p6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6"/>
          <p:cNvGrpSpPr/>
          <p:nvPr/>
        </p:nvGrpSpPr>
        <p:grpSpPr>
          <a:xfrm rot="524141">
            <a:off x="14303134" y="-1922301"/>
            <a:ext cx="4408637" cy="5680772"/>
            <a:chOff x="0" y="-38100"/>
            <a:chExt cx="401368" cy="517185"/>
          </a:xfrm>
        </p:grpSpPr>
        <p:sp>
          <p:nvSpPr>
            <p:cNvPr id="209" name="Google Shape;209;p6"/>
            <p:cNvSpPr/>
            <p:nvPr/>
          </p:nvSpPr>
          <p:spPr>
            <a:xfrm>
              <a:off x="0" y="0"/>
              <a:ext cx="401368" cy="479085"/>
            </a:xfrm>
            <a:custGeom>
              <a:rect b="b" l="l" r="r" t="t"/>
              <a:pathLst>
                <a:path extrusionOk="0" h="479085" w="401368">
                  <a:moveTo>
                    <a:pt x="119413" y="0"/>
                  </a:moveTo>
                  <a:lnTo>
                    <a:pt x="281955" y="0"/>
                  </a:lnTo>
                  <a:cubicBezTo>
                    <a:pt x="347905" y="0"/>
                    <a:pt x="401368" y="53463"/>
                    <a:pt x="401368" y="119413"/>
                  </a:cubicBezTo>
                  <a:lnTo>
                    <a:pt x="401368" y="359672"/>
                  </a:lnTo>
                  <a:cubicBezTo>
                    <a:pt x="401368" y="425622"/>
                    <a:pt x="347905" y="479085"/>
                    <a:pt x="281955" y="479085"/>
                  </a:cubicBezTo>
                  <a:lnTo>
                    <a:pt x="119413" y="479085"/>
                  </a:lnTo>
                  <a:cubicBezTo>
                    <a:pt x="53463" y="479085"/>
                    <a:pt x="0" y="425622"/>
                    <a:pt x="0" y="359672"/>
                  </a:cubicBezTo>
                  <a:lnTo>
                    <a:pt x="0" y="119413"/>
                  </a:lnTo>
                  <a:cubicBezTo>
                    <a:pt x="0" y="53463"/>
                    <a:pt x="53463" y="0"/>
                    <a:pt x="11941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 txBox="1"/>
            <p:nvPr/>
          </p:nvSpPr>
          <p:spPr>
            <a:xfrm>
              <a:off x="0" y="-38100"/>
              <a:ext cx="401368" cy="51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6"/>
          <p:cNvSpPr/>
          <p:nvPr/>
        </p:nvSpPr>
        <p:spPr>
          <a:xfrm>
            <a:off x="14945633" y="44452"/>
            <a:ext cx="2160903" cy="2160903"/>
          </a:xfrm>
          <a:custGeom>
            <a:rect b="b" l="l" r="r" t="t"/>
            <a:pathLst>
              <a:path extrusionOk="0" h="2160903" w="2160903">
                <a:moveTo>
                  <a:pt x="0" y="0"/>
                </a:moveTo>
                <a:lnTo>
                  <a:pt x="2160903" y="0"/>
                </a:lnTo>
                <a:lnTo>
                  <a:pt x="2160903" y="2160903"/>
                </a:lnTo>
                <a:lnTo>
                  <a:pt x="0" y="2160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6"/>
          <p:cNvSpPr/>
          <p:nvPr/>
        </p:nvSpPr>
        <p:spPr>
          <a:xfrm>
            <a:off x="1045688" y="4348728"/>
            <a:ext cx="1856745" cy="1343819"/>
          </a:xfrm>
          <a:custGeom>
            <a:rect b="b" l="l" r="r" t="t"/>
            <a:pathLst>
              <a:path extrusionOk="0" h="1343819" w="1856745">
                <a:moveTo>
                  <a:pt x="0" y="0"/>
                </a:moveTo>
                <a:lnTo>
                  <a:pt x="1856745" y="0"/>
                </a:lnTo>
                <a:lnTo>
                  <a:pt x="1856745" y="1343819"/>
                </a:lnTo>
                <a:lnTo>
                  <a:pt x="0" y="1343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4881413" y="603208"/>
            <a:ext cx="7157539" cy="125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7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Metodología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12038953" y="2224405"/>
            <a:ext cx="5813361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EAF2FF"/>
                </a:solidFill>
                <a:latin typeface="Poppins"/>
                <a:ea typeface="Poppins"/>
                <a:cs typeface="Poppins"/>
                <a:sym typeface="Poppins"/>
              </a:rPr>
              <a:t>Scrum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1181570" y="3591911"/>
            <a:ext cx="1447207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672824" y="5792173"/>
            <a:ext cx="2602472" cy="66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Inicio y planificación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3815972" y="6989590"/>
            <a:ext cx="1856745" cy="1343819"/>
          </a:xfrm>
          <a:custGeom>
            <a:rect b="b" l="l" r="r" t="t"/>
            <a:pathLst>
              <a:path extrusionOk="0" h="1343819" w="1856745">
                <a:moveTo>
                  <a:pt x="0" y="0"/>
                </a:moveTo>
                <a:lnTo>
                  <a:pt x="1856745" y="0"/>
                </a:lnTo>
                <a:lnTo>
                  <a:pt x="1856745" y="1343820"/>
                </a:lnTo>
                <a:lnTo>
                  <a:pt x="0" y="134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6"/>
          <p:cNvSpPr txBox="1"/>
          <p:nvPr/>
        </p:nvSpPr>
        <p:spPr>
          <a:xfrm>
            <a:off x="4069394" y="6229761"/>
            <a:ext cx="1379637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3275296" y="8433036"/>
            <a:ext cx="2890194" cy="33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y Prototipo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6846502" y="4259329"/>
            <a:ext cx="1856745" cy="1343819"/>
          </a:xfrm>
          <a:custGeom>
            <a:rect b="b" l="l" r="r" t="t"/>
            <a:pathLst>
              <a:path extrusionOk="0" h="1343819" w="1856745">
                <a:moveTo>
                  <a:pt x="0" y="0"/>
                </a:moveTo>
                <a:lnTo>
                  <a:pt x="1856745" y="0"/>
                </a:lnTo>
                <a:lnTo>
                  <a:pt x="1856745" y="1343819"/>
                </a:lnTo>
                <a:lnTo>
                  <a:pt x="0" y="1343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6"/>
          <p:cNvSpPr txBox="1"/>
          <p:nvPr/>
        </p:nvSpPr>
        <p:spPr>
          <a:xfrm>
            <a:off x="7233266" y="3499500"/>
            <a:ext cx="1391841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3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6620606" y="5702775"/>
            <a:ext cx="2213529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Desarrollo - Núcleo del Sistema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9441326" y="6989590"/>
            <a:ext cx="1856745" cy="1343819"/>
          </a:xfrm>
          <a:custGeom>
            <a:rect b="b" l="l" r="r" t="t"/>
            <a:pathLst>
              <a:path extrusionOk="0" h="1343819" w="1856745">
                <a:moveTo>
                  <a:pt x="0" y="0"/>
                </a:moveTo>
                <a:lnTo>
                  <a:pt x="1856745" y="0"/>
                </a:lnTo>
                <a:lnTo>
                  <a:pt x="1856745" y="1343820"/>
                </a:lnTo>
                <a:lnTo>
                  <a:pt x="0" y="134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6"/>
          <p:cNvSpPr txBox="1"/>
          <p:nvPr/>
        </p:nvSpPr>
        <p:spPr>
          <a:xfrm>
            <a:off x="9660979" y="6229761"/>
            <a:ext cx="1417439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4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9232227" y="8433036"/>
            <a:ext cx="2274943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Funcionalidades Avanzadas e Integración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12388863" y="4348728"/>
            <a:ext cx="1856745" cy="1343819"/>
          </a:xfrm>
          <a:custGeom>
            <a:rect b="b" l="l" r="r" t="t"/>
            <a:pathLst>
              <a:path extrusionOk="0" h="1343819" w="1856745">
                <a:moveTo>
                  <a:pt x="0" y="0"/>
                </a:moveTo>
                <a:lnTo>
                  <a:pt x="1856745" y="0"/>
                </a:lnTo>
                <a:lnTo>
                  <a:pt x="1856745" y="1343819"/>
                </a:lnTo>
                <a:lnTo>
                  <a:pt x="0" y="1343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6"/>
          <p:cNvSpPr txBox="1"/>
          <p:nvPr/>
        </p:nvSpPr>
        <p:spPr>
          <a:xfrm>
            <a:off x="12767665" y="3588899"/>
            <a:ext cx="1407765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5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12116643" y="5792173"/>
            <a:ext cx="2401184" cy="66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Control de Calidad y Pruebas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15190097" y="6989590"/>
            <a:ext cx="1856745" cy="1343819"/>
          </a:xfrm>
          <a:custGeom>
            <a:rect b="b" l="l" r="r" t="t"/>
            <a:pathLst>
              <a:path extrusionOk="0" h="1343819" w="1856745">
                <a:moveTo>
                  <a:pt x="0" y="0"/>
                </a:moveTo>
                <a:lnTo>
                  <a:pt x="1856745" y="0"/>
                </a:lnTo>
                <a:lnTo>
                  <a:pt x="1856745" y="1343820"/>
                </a:lnTo>
                <a:lnTo>
                  <a:pt x="0" y="134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6"/>
          <p:cNvSpPr txBox="1"/>
          <p:nvPr/>
        </p:nvSpPr>
        <p:spPr>
          <a:xfrm>
            <a:off x="15416953" y="6229761"/>
            <a:ext cx="1403033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6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14917877" y="8433036"/>
            <a:ext cx="2401184" cy="66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Cierre y Documentación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7"/>
          <p:cNvGrpSpPr/>
          <p:nvPr/>
        </p:nvGrpSpPr>
        <p:grpSpPr>
          <a:xfrm rot="524141">
            <a:off x="14257512" y="6795002"/>
            <a:ext cx="7307079" cy="9870000"/>
            <a:chOff x="0" y="-38100"/>
            <a:chExt cx="665246" cy="898578"/>
          </a:xfrm>
        </p:grpSpPr>
        <p:sp>
          <p:nvSpPr>
            <p:cNvPr id="240" name="Google Shape;240;p7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7"/>
          <p:cNvSpPr/>
          <p:nvPr/>
        </p:nvSpPr>
        <p:spPr>
          <a:xfrm>
            <a:off x="10982195" y="865061"/>
            <a:ext cx="987960" cy="1437033"/>
          </a:xfrm>
          <a:custGeom>
            <a:rect b="b" l="l" r="r" t="t"/>
            <a:pathLst>
              <a:path extrusionOk="0" h="1437033" w="987960">
                <a:moveTo>
                  <a:pt x="0" y="0"/>
                </a:moveTo>
                <a:lnTo>
                  <a:pt x="987960" y="0"/>
                </a:lnTo>
                <a:lnTo>
                  <a:pt x="987960" y="1437032"/>
                </a:lnTo>
                <a:lnTo>
                  <a:pt x="0" y="1437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7"/>
          <p:cNvSpPr/>
          <p:nvPr/>
        </p:nvSpPr>
        <p:spPr>
          <a:xfrm>
            <a:off x="13233048" y="926695"/>
            <a:ext cx="1337163" cy="1313763"/>
          </a:xfrm>
          <a:custGeom>
            <a:rect b="b" l="l" r="r" t="t"/>
            <a:pathLst>
              <a:path extrusionOk="0" h="1313763" w="1337163">
                <a:moveTo>
                  <a:pt x="0" y="0"/>
                </a:moveTo>
                <a:lnTo>
                  <a:pt x="1337163" y="0"/>
                </a:lnTo>
                <a:lnTo>
                  <a:pt x="1337163" y="1313763"/>
                </a:lnTo>
                <a:lnTo>
                  <a:pt x="0" y="1313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7"/>
          <p:cNvSpPr/>
          <p:nvPr/>
        </p:nvSpPr>
        <p:spPr>
          <a:xfrm>
            <a:off x="12225729" y="1028700"/>
            <a:ext cx="750144" cy="1273393"/>
          </a:xfrm>
          <a:custGeom>
            <a:rect b="b" l="l" r="r" t="t"/>
            <a:pathLst>
              <a:path extrusionOk="0" h="1273393" w="750144">
                <a:moveTo>
                  <a:pt x="0" y="0"/>
                </a:moveTo>
                <a:lnTo>
                  <a:pt x="750144" y="0"/>
                </a:lnTo>
                <a:lnTo>
                  <a:pt x="750144" y="1273393"/>
                </a:lnTo>
                <a:lnTo>
                  <a:pt x="0" y="12733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7"/>
          <p:cNvSpPr/>
          <p:nvPr/>
        </p:nvSpPr>
        <p:spPr>
          <a:xfrm rot="10800000">
            <a:off x="10035577" y="4581807"/>
            <a:ext cx="1440598" cy="405168"/>
          </a:xfrm>
          <a:custGeom>
            <a:rect b="b" l="l" r="r" t="t"/>
            <a:pathLst>
              <a:path extrusionOk="0" h="405168" w="1440598">
                <a:moveTo>
                  <a:pt x="0" y="0"/>
                </a:moveTo>
                <a:lnTo>
                  <a:pt x="1440598" y="0"/>
                </a:lnTo>
                <a:lnTo>
                  <a:pt x="1440598" y="405168"/>
                </a:lnTo>
                <a:lnTo>
                  <a:pt x="0" y="40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7"/>
          <p:cNvSpPr/>
          <p:nvPr/>
        </p:nvSpPr>
        <p:spPr>
          <a:xfrm rot="5400000">
            <a:off x="12007529" y="3557743"/>
            <a:ext cx="1440598" cy="405168"/>
          </a:xfrm>
          <a:custGeom>
            <a:rect b="b" l="l" r="r" t="t"/>
            <a:pathLst>
              <a:path extrusionOk="0" h="405168" w="1440598">
                <a:moveTo>
                  <a:pt x="0" y="0"/>
                </a:moveTo>
                <a:lnTo>
                  <a:pt x="1440598" y="0"/>
                </a:lnTo>
                <a:lnTo>
                  <a:pt x="1440598" y="405168"/>
                </a:lnTo>
                <a:lnTo>
                  <a:pt x="0" y="40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7"/>
          <p:cNvSpPr/>
          <p:nvPr/>
        </p:nvSpPr>
        <p:spPr>
          <a:xfrm>
            <a:off x="1885636" y="5882853"/>
            <a:ext cx="13907006" cy="4275967"/>
          </a:xfrm>
          <a:custGeom>
            <a:rect b="b" l="l" r="r" t="t"/>
            <a:pathLst>
              <a:path extrusionOk="0" h="4275967" w="13907006">
                <a:moveTo>
                  <a:pt x="0" y="0"/>
                </a:moveTo>
                <a:lnTo>
                  <a:pt x="13907005" y="0"/>
                </a:lnTo>
                <a:lnTo>
                  <a:pt x="13907005" y="4275967"/>
                </a:lnTo>
                <a:lnTo>
                  <a:pt x="0" y="4275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721" l="-1705" r="-1710" t="-79003"/>
            </a:stretch>
          </a:blipFill>
          <a:ln cap="rnd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7"/>
          <p:cNvSpPr/>
          <p:nvPr/>
        </p:nvSpPr>
        <p:spPr>
          <a:xfrm rot="9200324">
            <a:off x="6008953" y="5080766"/>
            <a:ext cx="1440598" cy="405168"/>
          </a:xfrm>
          <a:custGeom>
            <a:rect b="b" l="l" r="r" t="t"/>
            <a:pathLst>
              <a:path extrusionOk="0" h="405168" w="1440598">
                <a:moveTo>
                  <a:pt x="0" y="0"/>
                </a:moveTo>
                <a:lnTo>
                  <a:pt x="1440598" y="0"/>
                </a:lnTo>
                <a:lnTo>
                  <a:pt x="1440598" y="405168"/>
                </a:lnTo>
                <a:lnTo>
                  <a:pt x="0" y="40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7"/>
          <p:cNvSpPr/>
          <p:nvPr/>
        </p:nvSpPr>
        <p:spPr>
          <a:xfrm>
            <a:off x="3638419" y="6968305"/>
            <a:ext cx="1210493" cy="1692997"/>
          </a:xfrm>
          <a:custGeom>
            <a:rect b="b" l="l" r="r" t="t"/>
            <a:pathLst>
              <a:path extrusionOk="0" h="1692997" w="1210493">
                <a:moveTo>
                  <a:pt x="0" y="0"/>
                </a:moveTo>
                <a:lnTo>
                  <a:pt x="1210493" y="0"/>
                </a:lnTo>
                <a:lnTo>
                  <a:pt x="1210493" y="1692997"/>
                </a:lnTo>
                <a:lnTo>
                  <a:pt x="0" y="1692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7"/>
          <p:cNvSpPr/>
          <p:nvPr/>
        </p:nvSpPr>
        <p:spPr>
          <a:xfrm>
            <a:off x="5275352" y="7612220"/>
            <a:ext cx="1440598" cy="405168"/>
          </a:xfrm>
          <a:custGeom>
            <a:rect b="b" l="l" r="r" t="t"/>
            <a:pathLst>
              <a:path extrusionOk="0" h="405168" w="1440598">
                <a:moveTo>
                  <a:pt x="0" y="0"/>
                </a:moveTo>
                <a:lnTo>
                  <a:pt x="1440598" y="0"/>
                </a:lnTo>
                <a:lnTo>
                  <a:pt x="1440598" y="405168"/>
                </a:lnTo>
                <a:lnTo>
                  <a:pt x="0" y="40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7"/>
          <p:cNvSpPr/>
          <p:nvPr/>
        </p:nvSpPr>
        <p:spPr>
          <a:xfrm>
            <a:off x="7463868" y="6816303"/>
            <a:ext cx="1185831" cy="1586396"/>
          </a:xfrm>
          <a:custGeom>
            <a:rect b="b" l="l" r="r" t="t"/>
            <a:pathLst>
              <a:path extrusionOk="0" h="1586396" w="1185831">
                <a:moveTo>
                  <a:pt x="0" y="0"/>
                </a:moveTo>
                <a:lnTo>
                  <a:pt x="1185831" y="0"/>
                </a:lnTo>
                <a:lnTo>
                  <a:pt x="1185831" y="1586396"/>
                </a:lnTo>
                <a:lnTo>
                  <a:pt x="0" y="1586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7"/>
          <p:cNvSpPr/>
          <p:nvPr/>
        </p:nvSpPr>
        <p:spPr>
          <a:xfrm>
            <a:off x="8913629" y="7615668"/>
            <a:ext cx="1440598" cy="405168"/>
          </a:xfrm>
          <a:custGeom>
            <a:rect b="b" l="l" r="r" t="t"/>
            <a:pathLst>
              <a:path extrusionOk="0" h="405168" w="1440598">
                <a:moveTo>
                  <a:pt x="0" y="0"/>
                </a:moveTo>
                <a:lnTo>
                  <a:pt x="1440598" y="0"/>
                </a:lnTo>
                <a:lnTo>
                  <a:pt x="1440598" y="405169"/>
                </a:lnTo>
                <a:lnTo>
                  <a:pt x="0" y="40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7"/>
          <p:cNvSpPr/>
          <p:nvPr/>
        </p:nvSpPr>
        <p:spPr>
          <a:xfrm>
            <a:off x="11236052" y="6281016"/>
            <a:ext cx="3479642" cy="3479642"/>
          </a:xfrm>
          <a:custGeom>
            <a:rect b="b" l="l" r="r" t="t"/>
            <a:pathLst>
              <a:path extrusionOk="0" h="3479642" w="3479642">
                <a:moveTo>
                  <a:pt x="0" y="0"/>
                </a:moveTo>
                <a:lnTo>
                  <a:pt x="3479642" y="0"/>
                </a:lnTo>
                <a:lnTo>
                  <a:pt x="3479642" y="3479641"/>
                </a:lnTo>
                <a:lnTo>
                  <a:pt x="0" y="3479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7"/>
          <p:cNvSpPr/>
          <p:nvPr/>
        </p:nvSpPr>
        <p:spPr>
          <a:xfrm>
            <a:off x="12193960" y="6968305"/>
            <a:ext cx="1707670" cy="1733675"/>
          </a:xfrm>
          <a:custGeom>
            <a:rect b="b" l="l" r="r" t="t"/>
            <a:pathLst>
              <a:path extrusionOk="0" h="1733675" w="1707670">
                <a:moveTo>
                  <a:pt x="0" y="0"/>
                </a:moveTo>
                <a:lnTo>
                  <a:pt x="1707670" y="0"/>
                </a:lnTo>
                <a:lnTo>
                  <a:pt x="1707670" y="1733675"/>
                </a:lnTo>
                <a:lnTo>
                  <a:pt x="0" y="1733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7"/>
          <p:cNvSpPr txBox="1"/>
          <p:nvPr/>
        </p:nvSpPr>
        <p:spPr>
          <a:xfrm>
            <a:off x="1722282" y="874586"/>
            <a:ext cx="6644436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1722282" y="1792796"/>
            <a:ext cx="9544507" cy="73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7B8D2"/>
                </a:solidFill>
                <a:latin typeface="Poppins"/>
                <a:ea typeface="Poppins"/>
                <a:cs typeface="Poppins"/>
                <a:sym typeface="Poppins"/>
              </a:rPr>
              <a:t>CLIENTE-SERVIDOR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11019051" y="2542096"/>
            <a:ext cx="3913643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 (App Móvil)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11593563" y="4633026"/>
            <a:ext cx="3913643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REQUEST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7921850" y="5433654"/>
            <a:ext cx="1360753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Internet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2364237" y="6069441"/>
            <a:ext cx="4351713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VERCEL (Cloud Platform)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3638419" y="8790788"/>
            <a:ext cx="1406080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NODE.JS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5659411" y="7258271"/>
            <a:ext cx="672479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7463868" y="8609051"/>
            <a:ext cx="1449761" cy="677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PRISMA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(ORM)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9021752" y="7255552"/>
            <a:ext cx="1842247" cy="35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ORDEN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11970155" y="8854380"/>
            <a:ext cx="2252008" cy="677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(DATABASE)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8"/>
          <p:cNvGrpSpPr/>
          <p:nvPr/>
        </p:nvGrpSpPr>
        <p:grpSpPr>
          <a:xfrm>
            <a:off x="7195530" y="3567243"/>
            <a:ext cx="4098022" cy="2690682"/>
            <a:chOff x="0" y="-57150"/>
            <a:chExt cx="1079314" cy="708657"/>
          </a:xfrm>
        </p:grpSpPr>
        <p:sp>
          <p:nvSpPr>
            <p:cNvPr id="271" name="Google Shape;271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C8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2177689" y="3567243"/>
            <a:ext cx="4098022" cy="2690682"/>
            <a:chOff x="0" y="-57150"/>
            <a:chExt cx="1079314" cy="708657"/>
          </a:xfrm>
        </p:grpSpPr>
        <p:sp>
          <p:nvSpPr>
            <p:cNvPr id="274" name="Google Shape;274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8"/>
          <p:cNvSpPr/>
          <p:nvPr/>
        </p:nvSpPr>
        <p:spPr>
          <a:xfrm>
            <a:off x="7459551" y="4529137"/>
            <a:ext cx="3695488" cy="1411294"/>
          </a:xfrm>
          <a:custGeom>
            <a:rect b="b" l="l" r="r" t="t"/>
            <a:pathLst>
              <a:path extrusionOk="0" h="1411294" w="3695488">
                <a:moveTo>
                  <a:pt x="0" y="0"/>
                </a:moveTo>
                <a:lnTo>
                  <a:pt x="3695488" y="0"/>
                </a:lnTo>
                <a:lnTo>
                  <a:pt x="3695488" y="1411294"/>
                </a:lnTo>
                <a:lnTo>
                  <a:pt x="0" y="14112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30924"/>
            </a:stretch>
          </a:blipFill>
          <a:ln>
            <a:noFill/>
          </a:ln>
        </p:spPr>
      </p:sp>
      <p:grpSp>
        <p:nvGrpSpPr>
          <p:cNvPr id="277" name="Google Shape;277;p8"/>
          <p:cNvGrpSpPr/>
          <p:nvPr/>
        </p:nvGrpSpPr>
        <p:grpSpPr>
          <a:xfrm rot="524141">
            <a:off x="-2766783" y="-3197674"/>
            <a:ext cx="4544240" cy="6138110"/>
            <a:chOff x="0" y="-38100"/>
            <a:chExt cx="665246" cy="898578"/>
          </a:xfrm>
        </p:grpSpPr>
        <p:sp>
          <p:nvSpPr>
            <p:cNvPr id="278" name="Google Shape;278;p8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8"/>
          <p:cNvGrpSpPr/>
          <p:nvPr/>
        </p:nvGrpSpPr>
        <p:grpSpPr>
          <a:xfrm rot="524141">
            <a:off x="16550071" y="5195741"/>
            <a:ext cx="4544240" cy="6138110"/>
            <a:chOff x="0" y="-38100"/>
            <a:chExt cx="665246" cy="898578"/>
          </a:xfrm>
        </p:grpSpPr>
        <p:sp>
          <p:nvSpPr>
            <p:cNvPr id="281" name="Google Shape;281;p8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756DCC">
                <a:alpha val="3686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8"/>
          <p:cNvGrpSpPr/>
          <p:nvPr/>
        </p:nvGrpSpPr>
        <p:grpSpPr>
          <a:xfrm>
            <a:off x="2177689" y="3562723"/>
            <a:ext cx="4098022" cy="2690682"/>
            <a:chOff x="0" y="-57150"/>
            <a:chExt cx="1079314" cy="708657"/>
          </a:xfrm>
        </p:grpSpPr>
        <p:sp>
          <p:nvSpPr>
            <p:cNvPr id="284" name="Google Shape;284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C8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8"/>
          <p:cNvGrpSpPr/>
          <p:nvPr/>
        </p:nvGrpSpPr>
        <p:grpSpPr>
          <a:xfrm>
            <a:off x="12217476" y="3562723"/>
            <a:ext cx="4098022" cy="2690682"/>
            <a:chOff x="0" y="-57150"/>
            <a:chExt cx="1079314" cy="708657"/>
          </a:xfrm>
        </p:grpSpPr>
        <p:sp>
          <p:nvSpPr>
            <p:cNvPr id="287" name="Google Shape;287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C8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8"/>
          <p:cNvSpPr/>
          <p:nvPr/>
        </p:nvSpPr>
        <p:spPr>
          <a:xfrm>
            <a:off x="12514623" y="4398169"/>
            <a:ext cx="3595687" cy="1428750"/>
          </a:xfrm>
          <a:custGeom>
            <a:rect b="b" l="l" r="r" t="t"/>
            <a:pathLst>
              <a:path extrusionOk="0" h="1428750" w="3595687">
                <a:moveTo>
                  <a:pt x="0" y="0"/>
                </a:moveTo>
                <a:lnTo>
                  <a:pt x="3595688" y="0"/>
                </a:lnTo>
                <a:lnTo>
                  <a:pt x="3595688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4848" l="-24299" r="-26817" t="-42449"/>
            </a:stretch>
          </a:blipFill>
          <a:ln>
            <a:noFill/>
          </a:ln>
        </p:spPr>
      </p:sp>
      <p:sp>
        <p:nvSpPr>
          <p:cNvPr id="290" name="Google Shape;290;p8"/>
          <p:cNvSpPr/>
          <p:nvPr/>
        </p:nvSpPr>
        <p:spPr>
          <a:xfrm>
            <a:off x="2550318" y="4457700"/>
            <a:ext cx="3429000" cy="1309688"/>
          </a:xfrm>
          <a:custGeom>
            <a:rect b="b" l="l" r="r" t="t"/>
            <a:pathLst>
              <a:path extrusionOk="0" h="1309688" w="3429000">
                <a:moveTo>
                  <a:pt x="0" y="0"/>
                </a:moveTo>
                <a:lnTo>
                  <a:pt x="3429000" y="0"/>
                </a:lnTo>
                <a:lnTo>
                  <a:pt x="3429000" y="1309687"/>
                </a:lnTo>
                <a:lnTo>
                  <a:pt x="0" y="1309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7207" l="-12988" r="-7947" t="-70265"/>
            </a:stretch>
          </a:blipFill>
          <a:ln>
            <a:noFill/>
          </a:ln>
        </p:spPr>
      </p:sp>
      <p:grpSp>
        <p:nvGrpSpPr>
          <p:cNvPr id="291" name="Google Shape;291;p8"/>
          <p:cNvGrpSpPr/>
          <p:nvPr/>
        </p:nvGrpSpPr>
        <p:grpSpPr>
          <a:xfrm>
            <a:off x="4686609" y="6752156"/>
            <a:ext cx="4098022" cy="2690682"/>
            <a:chOff x="0" y="-57150"/>
            <a:chExt cx="1079314" cy="708657"/>
          </a:xfrm>
        </p:grpSpPr>
        <p:sp>
          <p:nvSpPr>
            <p:cNvPr id="292" name="Google Shape;292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C8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8"/>
          <p:cNvSpPr/>
          <p:nvPr/>
        </p:nvSpPr>
        <p:spPr>
          <a:xfrm>
            <a:off x="4889656" y="7790650"/>
            <a:ext cx="3691929" cy="830684"/>
          </a:xfrm>
          <a:custGeom>
            <a:rect b="b" l="l" r="r" t="t"/>
            <a:pathLst>
              <a:path extrusionOk="0" h="830684" w="3691929">
                <a:moveTo>
                  <a:pt x="0" y="0"/>
                </a:moveTo>
                <a:lnTo>
                  <a:pt x="3691929" y="0"/>
                </a:lnTo>
                <a:lnTo>
                  <a:pt x="3691929" y="830684"/>
                </a:lnTo>
                <a:lnTo>
                  <a:pt x="0" y="830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5" name="Google Shape;295;p8"/>
          <p:cNvGrpSpPr/>
          <p:nvPr/>
        </p:nvGrpSpPr>
        <p:grpSpPr>
          <a:xfrm>
            <a:off x="9704450" y="6756677"/>
            <a:ext cx="4098022" cy="2690682"/>
            <a:chOff x="0" y="-57150"/>
            <a:chExt cx="1079314" cy="708657"/>
          </a:xfrm>
        </p:grpSpPr>
        <p:sp>
          <p:nvSpPr>
            <p:cNvPr id="296" name="Google Shape;296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8"/>
          <p:cNvGrpSpPr/>
          <p:nvPr/>
        </p:nvGrpSpPr>
        <p:grpSpPr>
          <a:xfrm>
            <a:off x="9704450" y="6752156"/>
            <a:ext cx="4098022" cy="2690682"/>
            <a:chOff x="0" y="-57150"/>
            <a:chExt cx="1079314" cy="708657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1079314" cy="651507"/>
            </a:xfrm>
            <a:custGeom>
              <a:rect b="b" l="l" r="r" t="t"/>
              <a:pathLst>
                <a:path extrusionOk="0" h="651507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596721"/>
                  </a:lnTo>
                  <a:cubicBezTo>
                    <a:pt x="1079314" y="611251"/>
                    <a:pt x="1073542" y="625186"/>
                    <a:pt x="1063268" y="635460"/>
                  </a:cubicBezTo>
                  <a:cubicBezTo>
                    <a:pt x="1052993" y="645735"/>
                    <a:pt x="1039058" y="651507"/>
                    <a:pt x="1024528" y="651507"/>
                  </a:cubicBezTo>
                  <a:lnTo>
                    <a:pt x="54786" y="651507"/>
                  </a:lnTo>
                  <a:cubicBezTo>
                    <a:pt x="24529" y="651507"/>
                    <a:pt x="0" y="626978"/>
                    <a:pt x="0" y="596721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C8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0" y="-57150"/>
              <a:ext cx="1079314" cy="70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8"/>
          <p:cNvSpPr/>
          <p:nvPr/>
        </p:nvSpPr>
        <p:spPr>
          <a:xfrm>
            <a:off x="10667719" y="7078058"/>
            <a:ext cx="2171482" cy="2264910"/>
          </a:xfrm>
          <a:custGeom>
            <a:rect b="b" l="l" r="r" t="t"/>
            <a:pathLst>
              <a:path extrusionOk="0" h="2264910" w="2171482">
                <a:moveTo>
                  <a:pt x="0" y="0"/>
                </a:moveTo>
                <a:lnTo>
                  <a:pt x="2171483" y="0"/>
                </a:lnTo>
                <a:lnTo>
                  <a:pt x="2171483" y="2264910"/>
                </a:lnTo>
                <a:lnTo>
                  <a:pt x="0" y="2264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8"/>
          <p:cNvSpPr txBox="1"/>
          <p:nvPr/>
        </p:nvSpPr>
        <p:spPr>
          <a:xfrm>
            <a:off x="3199587" y="2076947"/>
            <a:ext cx="6504863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Tecnologias 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10033680" y="2076947"/>
            <a:ext cx="5773563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F7B8D2"/>
                </a:solidFill>
                <a:latin typeface="Poppins"/>
                <a:ea typeface="Poppins"/>
                <a:cs typeface="Poppins"/>
                <a:sym typeface="Poppins"/>
              </a:rPr>
              <a:t>Alerta Vital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9"/>
          <p:cNvGrpSpPr/>
          <p:nvPr/>
        </p:nvGrpSpPr>
        <p:grpSpPr>
          <a:xfrm rot="524141">
            <a:off x="-851865" y="-3396750"/>
            <a:ext cx="4544240" cy="6138110"/>
            <a:chOff x="0" y="-38100"/>
            <a:chExt cx="665246" cy="898578"/>
          </a:xfrm>
        </p:grpSpPr>
        <p:sp>
          <p:nvSpPr>
            <p:cNvPr id="309" name="Google Shape;309;p9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9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9"/>
          <p:cNvGrpSpPr/>
          <p:nvPr/>
        </p:nvGrpSpPr>
        <p:grpSpPr>
          <a:xfrm rot="524141">
            <a:off x="12632684" y="4569897"/>
            <a:ext cx="7307079" cy="9870000"/>
            <a:chOff x="0" y="-38100"/>
            <a:chExt cx="665246" cy="898578"/>
          </a:xfrm>
        </p:grpSpPr>
        <p:sp>
          <p:nvSpPr>
            <p:cNvPr id="312" name="Google Shape;312;p9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9"/>
          <p:cNvSpPr/>
          <p:nvPr/>
        </p:nvSpPr>
        <p:spPr>
          <a:xfrm>
            <a:off x="11535810" y="1028700"/>
            <a:ext cx="2491384" cy="2111448"/>
          </a:xfrm>
          <a:custGeom>
            <a:rect b="b" l="l" r="r" t="t"/>
            <a:pathLst>
              <a:path extrusionOk="0" h="2111448" w="2491384">
                <a:moveTo>
                  <a:pt x="0" y="0"/>
                </a:moveTo>
                <a:lnTo>
                  <a:pt x="2491384" y="0"/>
                </a:lnTo>
                <a:lnTo>
                  <a:pt x="2491384" y="2111448"/>
                </a:lnTo>
                <a:lnTo>
                  <a:pt x="0" y="2111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9"/>
          <p:cNvSpPr/>
          <p:nvPr/>
        </p:nvSpPr>
        <p:spPr>
          <a:xfrm>
            <a:off x="14319492" y="5389857"/>
            <a:ext cx="3869903" cy="2203023"/>
          </a:xfrm>
          <a:custGeom>
            <a:rect b="b" l="l" r="r" t="t"/>
            <a:pathLst>
              <a:path extrusionOk="0" h="2203023" w="3869903">
                <a:moveTo>
                  <a:pt x="0" y="0"/>
                </a:moveTo>
                <a:lnTo>
                  <a:pt x="3869904" y="0"/>
                </a:lnTo>
                <a:lnTo>
                  <a:pt x="3869904" y="2203023"/>
                </a:lnTo>
                <a:lnTo>
                  <a:pt x="0" y="2203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p9"/>
          <p:cNvGrpSpPr/>
          <p:nvPr/>
        </p:nvGrpSpPr>
        <p:grpSpPr>
          <a:xfrm>
            <a:off x="1400491" y="993499"/>
            <a:ext cx="8545493" cy="2060059"/>
            <a:chOff x="0" y="19050"/>
            <a:chExt cx="11393991" cy="2746746"/>
          </a:xfrm>
        </p:grpSpPr>
        <p:sp>
          <p:nvSpPr>
            <p:cNvPr id="317" name="Google Shape;317;p9"/>
            <p:cNvSpPr txBox="1"/>
            <p:nvPr/>
          </p:nvSpPr>
          <p:spPr>
            <a:xfrm>
              <a:off x="886130" y="19050"/>
              <a:ext cx="10507861" cy="148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499" u="none" cap="none" strike="noStrike">
                  <a:solidFill>
                    <a:srgbClr val="F7B8D2"/>
                  </a:solidFill>
                  <a:latin typeface="Poppins"/>
                  <a:ea typeface="Poppins"/>
                  <a:cs typeface="Poppins"/>
                  <a:sym typeface="Poppins"/>
                </a:rPr>
                <a:t>Requerimientos</a:t>
              </a:r>
              <a:endParaRPr/>
            </a:p>
          </p:txBody>
        </p:sp>
        <p:sp>
          <p:nvSpPr>
            <p:cNvPr id="318" name="Google Shape;318;p9"/>
            <p:cNvSpPr txBox="1"/>
            <p:nvPr/>
          </p:nvSpPr>
          <p:spPr>
            <a:xfrm>
              <a:off x="0" y="1273546"/>
              <a:ext cx="8860270" cy="149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4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Funcionales</a:t>
              </a:r>
              <a:endParaRPr/>
            </a:p>
          </p:txBody>
        </p:sp>
      </p:grpSp>
      <p:sp>
        <p:nvSpPr>
          <p:cNvPr id="319" name="Google Shape;319;p9"/>
          <p:cNvSpPr txBox="1"/>
          <p:nvPr/>
        </p:nvSpPr>
        <p:spPr>
          <a:xfrm>
            <a:off x="1050158" y="3495837"/>
            <a:ext cx="12977035" cy="57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1418" lvl="1" marL="662837" marR="0" rtl="0" algn="just">
              <a:lnSpc>
                <a:spcPct val="185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0"/>
              <a:buFont typeface="Arial"/>
              <a:buChar char="•"/>
            </a:pPr>
            <a:r>
              <a:rPr b="1" i="0" lang="en-US" sz="3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Botón interactivo SOS al presionarlo envió automático de la emergencia al cuidador mas cercano. (ROL ADULTO MAYOR)</a:t>
            </a:r>
            <a:endParaRPr/>
          </a:p>
          <a:p>
            <a:pPr indent="-331418" lvl="1" marL="662837" marR="0" rtl="0" algn="just">
              <a:lnSpc>
                <a:spcPct val="185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0"/>
              <a:buFont typeface="Arial"/>
              <a:buChar char="•"/>
            </a:pPr>
            <a:r>
              <a:rPr b="1" i="0" lang="en-US" sz="3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Alerta push segundo plano para la notificación al cuidador. (ROL CUIDADOR)</a:t>
            </a:r>
            <a:endParaRPr/>
          </a:p>
          <a:p>
            <a:pPr indent="-331418" lvl="1" marL="662837" marR="0" rtl="0" algn="just">
              <a:lnSpc>
                <a:spcPct val="185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0"/>
              <a:buFont typeface="Arial"/>
              <a:buChar char="•"/>
            </a:pPr>
            <a:r>
              <a:rPr b="1" i="0" lang="en-US" sz="3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Botones interactivos derivar o aceptar. (ROL CUIDADOR)</a:t>
            </a:r>
            <a:endParaRPr/>
          </a:p>
          <a:p>
            <a:pPr indent="-331418" lvl="1" marL="662837" marR="0" rtl="0" algn="just">
              <a:lnSpc>
                <a:spcPct val="185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0"/>
              <a:buFont typeface="Arial"/>
              <a:buChar char="•"/>
            </a:pPr>
            <a:r>
              <a:rPr b="1" i="0" lang="en-US" sz="3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muestra la ubicación de la emergencia del adulto mayor, botones con opciones Waze o Google Maps. (ROL CUIDADOR)</a:t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7538676" y="2244174"/>
            <a:ext cx="3210648" cy="567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(Flujo principal)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0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326" name="Google Shape;326;p10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0"/>
          <p:cNvGrpSpPr/>
          <p:nvPr/>
        </p:nvGrpSpPr>
        <p:grpSpPr>
          <a:xfrm>
            <a:off x="1551549" y="792802"/>
            <a:ext cx="8965267" cy="2153837"/>
            <a:chOff x="0" y="19050"/>
            <a:chExt cx="11953689" cy="2871783"/>
          </a:xfrm>
        </p:grpSpPr>
        <p:sp>
          <p:nvSpPr>
            <p:cNvPr id="329" name="Google Shape;329;p10"/>
            <p:cNvSpPr txBox="1"/>
            <p:nvPr/>
          </p:nvSpPr>
          <p:spPr>
            <a:xfrm>
              <a:off x="0" y="19050"/>
              <a:ext cx="10507861" cy="148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499" u="none" cap="none" strike="noStrike">
                  <a:solidFill>
                    <a:srgbClr val="F7B8D2"/>
                  </a:solidFill>
                  <a:latin typeface="Poppins"/>
                  <a:ea typeface="Poppins"/>
                  <a:cs typeface="Poppins"/>
                  <a:sym typeface="Poppins"/>
                </a:rPr>
                <a:t>Requerimientos</a:t>
              </a:r>
              <a:endParaRPr/>
            </a:p>
          </p:txBody>
        </p:sp>
        <p:sp>
          <p:nvSpPr>
            <p:cNvPr id="330" name="Google Shape;330;p10"/>
            <p:cNvSpPr txBox="1"/>
            <p:nvPr/>
          </p:nvSpPr>
          <p:spPr>
            <a:xfrm>
              <a:off x="902669" y="1398583"/>
              <a:ext cx="11051020" cy="149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4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 Funcionales</a:t>
              </a:r>
              <a:endParaRPr/>
            </a:p>
          </p:txBody>
        </p:sp>
      </p:grpSp>
      <p:sp>
        <p:nvSpPr>
          <p:cNvPr id="331" name="Google Shape;331;p10"/>
          <p:cNvSpPr/>
          <p:nvPr/>
        </p:nvSpPr>
        <p:spPr>
          <a:xfrm>
            <a:off x="12154008" y="-626851"/>
            <a:ext cx="2640486" cy="5280972"/>
          </a:xfrm>
          <a:custGeom>
            <a:rect b="b" l="l" r="r" t="t"/>
            <a:pathLst>
              <a:path extrusionOk="0" h="5280972" w="2640486">
                <a:moveTo>
                  <a:pt x="0" y="0"/>
                </a:moveTo>
                <a:lnTo>
                  <a:pt x="2640486" y="0"/>
                </a:lnTo>
                <a:lnTo>
                  <a:pt x="2640486" y="5280972"/>
                </a:lnTo>
                <a:lnTo>
                  <a:pt x="0" y="52809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0"/>
          <p:cNvSpPr txBox="1"/>
          <p:nvPr/>
        </p:nvSpPr>
        <p:spPr>
          <a:xfrm>
            <a:off x="1028700" y="3692213"/>
            <a:ext cx="12964445" cy="5033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1097" lvl="1" marL="662194" marR="0" rtl="0" algn="just">
              <a:lnSpc>
                <a:spcPct val="1859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67"/>
              <a:buFont typeface="Arial"/>
              <a:buChar char="•"/>
            </a:pPr>
            <a:r>
              <a:rPr b="1" i="0" lang="en-US" sz="306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Accesibilidad digital (Botones grandes, interfaz sencilla minimalista, no saturada)</a:t>
            </a:r>
            <a:endParaRPr/>
          </a:p>
          <a:p>
            <a:pPr indent="-331097" lvl="1" marL="662194" marR="0" rtl="0" algn="just">
              <a:lnSpc>
                <a:spcPct val="1859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67"/>
              <a:buFont typeface="Arial"/>
              <a:buChar char="•"/>
            </a:pPr>
            <a:r>
              <a:rPr b="1" i="0" lang="en-US" sz="306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Baja latencia para la notificación de emergencias</a:t>
            </a:r>
            <a:endParaRPr/>
          </a:p>
          <a:p>
            <a:pPr indent="-331097" lvl="1" marL="662194" marR="0" rtl="0" algn="just">
              <a:lnSpc>
                <a:spcPct val="1859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67"/>
              <a:buFont typeface="Arial"/>
              <a:buChar char="•"/>
            </a:pPr>
            <a:r>
              <a:rPr b="1" i="0" lang="en-US" sz="306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Verificación de correo por seguridad</a:t>
            </a:r>
            <a:endParaRPr/>
          </a:p>
          <a:p>
            <a:pPr indent="-331097" lvl="1" marL="662194" marR="0" rtl="0" algn="just">
              <a:lnSpc>
                <a:spcPct val="1859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67"/>
              <a:buFont typeface="Arial"/>
              <a:buChar char="•"/>
            </a:pPr>
            <a:r>
              <a:rPr b="1" i="0" lang="en-US" sz="306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Verificación de vinculación por seguridad</a:t>
            </a:r>
            <a:endParaRPr/>
          </a:p>
          <a:p>
            <a:pPr indent="-331097" lvl="1" marL="662194" marR="0" rtl="0" algn="just">
              <a:lnSpc>
                <a:spcPct val="1859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67"/>
              <a:buFont typeface="Arial"/>
              <a:buChar char="•"/>
            </a:pPr>
            <a:r>
              <a:rPr b="1" i="0" lang="en-US" sz="306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Hasheo de contraseñas</a:t>
            </a:r>
            <a:endParaRPr/>
          </a:p>
          <a:p>
            <a:pPr indent="0" lvl="0" marL="0" marR="0" rtl="0" algn="just">
              <a:lnSpc>
                <a:spcPct val="185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67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1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338" name="Google Shape;338;p1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11"/>
          <p:cNvGrpSpPr/>
          <p:nvPr/>
        </p:nvGrpSpPr>
        <p:grpSpPr>
          <a:xfrm rot="524141">
            <a:off x="14031155" y="7127614"/>
            <a:ext cx="7307079" cy="9870000"/>
            <a:chOff x="0" y="-38100"/>
            <a:chExt cx="665246" cy="898578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11"/>
          <p:cNvSpPr/>
          <p:nvPr/>
        </p:nvSpPr>
        <p:spPr>
          <a:xfrm>
            <a:off x="10639184" y="1285199"/>
            <a:ext cx="6453194" cy="8633132"/>
          </a:xfrm>
          <a:custGeom>
            <a:rect b="b" l="l" r="r" t="t"/>
            <a:pathLst>
              <a:path extrusionOk="0" h="8633132" w="6453194">
                <a:moveTo>
                  <a:pt x="0" y="0"/>
                </a:moveTo>
                <a:lnTo>
                  <a:pt x="6453195" y="0"/>
                </a:lnTo>
                <a:lnTo>
                  <a:pt x="6453195" y="8633133"/>
                </a:lnTo>
                <a:lnTo>
                  <a:pt x="0" y="86331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1"/>
          <p:cNvSpPr txBox="1"/>
          <p:nvPr/>
        </p:nvSpPr>
        <p:spPr>
          <a:xfrm>
            <a:off x="240907" y="3711129"/>
            <a:ext cx="8569711" cy="1381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74" u="none" cap="none" strike="noStrike">
                <a:solidFill>
                  <a:srgbClr val="F7B8D2"/>
                </a:solidFill>
                <a:latin typeface="Poppins"/>
                <a:ea typeface="Poppins"/>
                <a:cs typeface="Poppins"/>
                <a:sym typeface="Poppins"/>
              </a:rPr>
              <a:t>Validaciones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412196" y="4925131"/>
            <a:ext cx="8227134" cy="1381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7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Alerta Vital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2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351" name="Google Shape;351;p1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12"/>
          <p:cNvGrpSpPr/>
          <p:nvPr/>
        </p:nvGrpSpPr>
        <p:grpSpPr>
          <a:xfrm>
            <a:off x="6791106" y="2097135"/>
            <a:ext cx="4705788" cy="9308928"/>
            <a:chOff x="0" y="0"/>
            <a:chExt cx="2620010" cy="5182870"/>
          </a:xfrm>
        </p:grpSpPr>
        <p:sp>
          <p:nvSpPr>
            <p:cNvPr id="354" name="Google Shape;354;p12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2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12"/>
          <p:cNvSpPr/>
          <p:nvPr/>
        </p:nvSpPr>
        <p:spPr>
          <a:xfrm>
            <a:off x="7402312" y="4186107"/>
            <a:ext cx="3483375" cy="3483375"/>
          </a:xfrm>
          <a:custGeom>
            <a:rect b="b" l="l" r="r" t="t"/>
            <a:pathLst>
              <a:path extrusionOk="0" h="3483375" w="3483375">
                <a:moveTo>
                  <a:pt x="0" y="0"/>
                </a:moveTo>
                <a:lnTo>
                  <a:pt x="3483376" y="0"/>
                </a:lnTo>
                <a:lnTo>
                  <a:pt x="3483376" y="3483375"/>
                </a:lnTo>
                <a:lnTo>
                  <a:pt x="0" y="3483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12"/>
          <p:cNvSpPr/>
          <p:nvPr/>
        </p:nvSpPr>
        <p:spPr>
          <a:xfrm>
            <a:off x="9456643" y="7680912"/>
            <a:ext cx="1429045" cy="2715525"/>
          </a:xfrm>
          <a:custGeom>
            <a:rect b="b" l="l" r="r" t="t"/>
            <a:pathLst>
              <a:path extrusionOk="0" h="2715525" w="1429045">
                <a:moveTo>
                  <a:pt x="0" y="0"/>
                </a:moveTo>
                <a:lnTo>
                  <a:pt x="1429045" y="0"/>
                </a:lnTo>
                <a:lnTo>
                  <a:pt x="1429045" y="2715525"/>
                </a:lnTo>
                <a:lnTo>
                  <a:pt x="0" y="2715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12"/>
          <p:cNvSpPr txBox="1"/>
          <p:nvPr/>
        </p:nvSpPr>
        <p:spPr>
          <a:xfrm>
            <a:off x="4354727" y="293124"/>
            <a:ext cx="9578545" cy="149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3"/>
          <p:cNvGrpSpPr/>
          <p:nvPr/>
        </p:nvGrpSpPr>
        <p:grpSpPr>
          <a:xfrm rot="1605793">
            <a:off x="11230742" y="5376677"/>
            <a:ext cx="12687804" cy="9870000"/>
            <a:chOff x="0" y="-38100"/>
            <a:chExt cx="1155115" cy="898578"/>
          </a:xfrm>
        </p:grpSpPr>
        <p:sp>
          <p:nvSpPr>
            <p:cNvPr id="371" name="Google Shape;371;p13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3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3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374" name="Google Shape;374;p13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6" name="Google Shape;3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123" y="1088208"/>
            <a:ext cx="17463854" cy="100985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3"/>
          <p:cNvGrpSpPr/>
          <p:nvPr/>
        </p:nvGrpSpPr>
        <p:grpSpPr>
          <a:xfrm>
            <a:off x="3365884" y="-19198"/>
            <a:ext cx="11594332" cy="1835537"/>
            <a:chOff x="0" y="-38100"/>
            <a:chExt cx="1697332" cy="268710"/>
          </a:xfrm>
        </p:grpSpPr>
        <p:sp>
          <p:nvSpPr>
            <p:cNvPr id="378" name="Google Shape;378;p13"/>
            <p:cNvSpPr/>
            <p:nvPr/>
          </p:nvSpPr>
          <p:spPr>
            <a:xfrm>
              <a:off x="0" y="0"/>
              <a:ext cx="1697332" cy="230610"/>
            </a:xfrm>
            <a:custGeom>
              <a:rect b="b" l="l" r="r" t="t"/>
              <a:pathLst>
                <a:path extrusionOk="0" h="230610" w="1697332">
                  <a:moveTo>
                    <a:pt x="45406" y="0"/>
                  </a:moveTo>
                  <a:lnTo>
                    <a:pt x="1651926" y="0"/>
                  </a:lnTo>
                  <a:cubicBezTo>
                    <a:pt x="1677003" y="0"/>
                    <a:pt x="1697332" y="20329"/>
                    <a:pt x="1697332" y="45406"/>
                  </a:cubicBezTo>
                  <a:lnTo>
                    <a:pt x="1697332" y="185204"/>
                  </a:lnTo>
                  <a:cubicBezTo>
                    <a:pt x="1697332" y="210281"/>
                    <a:pt x="1677003" y="230610"/>
                    <a:pt x="1651926" y="230610"/>
                  </a:cubicBezTo>
                  <a:lnTo>
                    <a:pt x="45406" y="230610"/>
                  </a:lnTo>
                  <a:cubicBezTo>
                    <a:pt x="20329" y="230610"/>
                    <a:pt x="0" y="210281"/>
                    <a:pt x="0" y="185204"/>
                  </a:cubicBezTo>
                  <a:lnTo>
                    <a:pt x="0" y="45406"/>
                  </a:lnTo>
                  <a:cubicBezTo>
                    <a:pt x="0" y="20329"/>
                    <a:pt x="20329" y="0"/>
                    <a:pt x="45406" y="0"/>
                  </a:cubicBezTo>
                  <a:close/>
                </a:path>
              </a:pathLst>
            </a:custGeom>
            <a:solidFill>
              <a:srgbClr val="6B64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>
              <a:off x="0" y="-38100"/>
              <a:ext cx="1697332" cy="268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 rot="-660255">
            <a:off x="15487364" y="0"/>
            <a:ext cx="1771936" cy="2057400"/>
          </a:xfrm>
          <a:custGeom>
            <a:rect b="b" l="l" r="r" t="t"/>
            <a:pathLst>
              <a:path extrusionOk="0" h="2057400" w="1771936">
                <a:moveTo>
                  <a:pt x="0" y="0"/>
                </a:moveTo>
                <a:lnTo>
                  <a:pt x="1771936" y="0"/>
                </a:lnTo>
                <a:lnTo>
                  <a:pt x="177193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13"/>
          <p:cNvSpPr txBox="1"/>
          <p:nvPr/>
        </p:nvSpPr>
        <p:spPr>
          <a:xfrm>
            <a:off x="3365884" y="113982"/>
            <a:ext cx="11594332" cy="1772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 simulaciones exitosas en entorno controlado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4"/>
          <p:cNvGrpSpPr/>
          <p:nvPr/>
        </p:nvGrpSpPr>
        <p:grpSpPr>
          <a:xfrm rot="1605793">
            <a:off x="15389345" y="2501254"/>
            <a:ext cx="12687804" cy="9870000"/>
            <a:chOff x="0" y="-38100"/>
            <a:chExt cx="1155115" cy="898578"/>
          </a:xfrm>
        </p:grpSpPr>
        <p:sp>
          <p:nvSpPr>
            <p:cNvPr id="387" name="Google Shape;387;p14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" name="Google Shape;389;p14"/>
          <p:cNvGrpSpPr/>
          <p:nvPr/>
        </p:nvGrpSpPr>
        <p:grpSpPr>
          <a:xfrm rot="524141">
            <a:off x="-2616814" y="599130"/>
            <a:ext cx="4544240" cy="6138110"/>
            <a:chOff x="0" y="-38100"/>
            <a:chExt cx="665246" cy="898578"/>
          </a:xfrm>
        </p:grpSpPr>
        <p:sp>
          <p:nvSpPr>
            <p:cNvPr id="390" name="Google Shape;390;p14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4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14"/>
          <p:cNvGrpSpPr/>
          <p:nvPr/>
        </p:nvGrpSpPr>
        <p:grpSpPr>
          <a:xfrm>
            <a:off x="3365884" y="-19198"/>
            <a:ext cx="11594332" cy="1835537"/>
            <a:chOff x="0" y="-38100"/>
            <a:chExt cx="1697332" cy="268710"/>
          </a:xfrm>
        </p:grpSpPr>
        <p:sp>
          <p:nvSpPr>
            <p:cNvPr id="393" name="Google Shape;393;p14"/>
            <p:cNvSpPr/>
            <p:nvPr/>
          </p:nvSpPr>
          <p:spPr>
            <a:xfrm>
              <a:off x="0" y="0"/>
              <a:ext cx="1697332" cy="230610"/>
            </a:xfrm>
            <a:custGeom>
              <a:rect b="b" l="l" r="r" t="t"/>
              <a:pathLst>
                <a:path extrusionOk="0" h="230610" w="1697332">
                  <a:moveTo>
                    <a:pt x="45406" y="0"/>
                  </a:moveTo>
                  <a:lnTo>
                    <a:pt x="1651926" y="0"/>
                  </a:lnTo>
                  <a:cubicBezTo>
                    <a:pt x="1677003" y="0"/>
                    <a:pt x="1697332" y="20329"/>
                    <a:pt x="1697332" y="45406"/>
                  </a:cubicBezTo>
                  <a:lnTo>
                    <a:pt x="1697332" y="185204"/>
                  </a:lnTo>
                  <a:cubicBezTo>
                    <a:pt x="1697332" y="210281"/>
                    <a:pt x="1677003" y="230610"/>
                    <a:pt x="1651926" y="230610"/>
                  </a:cubicBezTo>
                  <a:lnTo>
                    <a:pt x="45406" y="230610"/>
                  </a:lnTo>
                  <a:cubicBezTo>
                    <a:pt x="20329" y="230610"/>
                    <a:pt x="0" y="210281"/>
                    <a:pt x="0" y="185204"/>
                  </a:cubicBezTo>
                  <a:lnTo>
                    <a:pt x="0" y="45406"/>
                  </a:lnTo>
                  <a:cubicBezTo>
                    <a:pt x="0" y="20329"/>
                    <a:pt x="20329" y="0"/>
                    <a:pt x="45406" y="0"/>
                  </a:cubicBezTo>
                  <a:close/>
                </a:path>
              </a:pathLst>
            </a:custGeom>
            <a:solidFill>
              <a:srgbClr val="6B64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4"/>
            <p:cNvSpPr txBox="1"/>
            <p:nvPr/>
          </p:nvSpPr>
          <p:spPr>
            <a:xfrm>
              <a:off x="0" y="-38100"/>
              <a:ext cx="1697332" cy="268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5" name="Google Shape;3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405" y="1261715"/>
            <a:ext cx="8921190" cy="956293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15079274" y="241060"/>
            <a:ext cx="1669170" cy="1575279"/>
          </a:xfrm>
          <a:custGeom>
            <a:rect b="b" l="l" r="r" t="t"/>
            <a:pathLst>
              <a:path extrusionOk="0" h="1575279" w="1669170">
                <a:moveTo>
                  <a:pt x="0" y="0"/>
                </a:moveTo>
                <a:lnTo>
                  <a:pt x="1669170" y="0"/>
                </a:lnTo>
                <a:lnTo>
                  <a:pt x="1669170" y="1575280"/>
                </a:lnTo>
                <a:lnTo>
                  <a:pt x="0" y="1575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14"/>
          <p:cNvSpPr txBox="1"/>
          <p:nvPr/>
        </p:nvSpPr>
        <p:spPr>
          <a:xfrm>
            <a:off x="3365884" y="113982"/>
            <a:ext cx="11594332" cy="1772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90% percibe la app como clara y fácil de usar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5"/>
          <p:cNvGrpSpPr/>
          <p:nvPr/>
        </p:nvGrpSpPr>
        <p:grpSpPr>
          <a:xfrm>
            <a:off x="3346834" y="-19198"/>
            <a:ext cx="11594332" cy="1835537"/>
            <a:chOff x="0" y="-38100"/>
            <a:chExt cx="1697332" cy="268710"/>
          </a:xfrm>
        </p:grpSpPr>
        <p:sp>
          <p:nvSpPr>
            <p:cNvPr id="403" name="Google Shape;403;p15"/>
            <p:cNvSpPr/>
            <p:nvPr/>
          </p:nvSpPr>
          <p:spPr>
            <a:xfrm>
              <a:off x="0" y="0"/>
              <a:ext cx="1697332" cy="230610"/>
            </a:xfrm>
            <a:custGeom>
              <a:rect b="b" l="l" r="r" t="t"/>
              <a:pathLst>
                <a:path extrusionOk="0" h="230610" w="1697332">
                  <a:moveTo>
                    <a:pt x="45406" y="0"/>
                  </a:moveTo>
                  <a:lnTo>
                    <a:pt x="1651926" y="0"/>
                  </a:lnTo>
                  <a:cubicBezTo>
                    <a:pt x="1677003" y="0"/>
                    <a:pt x="1697332" y="20329"/>
                    <a:pt x="1697332" y="45406"/>
                  </a:cubicBezTo>
                  <a:lnTo>
                    <a:pt x="1697332" y="185204"/>
                  </a:lnTo>
                  <a:cubicBezTo>
                    <a:pt x="1697332" y="210281"/>
                    <a:pt x="1677003" y="230610"/>
                    <a:pt x="1651926" y="230610"/>
                  </a:cubicBezTo>
                  <a:lnTo>
                    <a:pt x="45406" y="230610"/>
                  </a:lnTo>
                  <a:cubicBezTo>
                    <a:pt x="20329" y="230610"/>
                    <a:pt x="0" y="210281"/>
                    <a:pt x="0" y="185204"/>
                  </a:cubicBezTo>
                  <a:lnTo>
                    <a:pt x="0" y="45406"/>
                  </a:lnTo>
                  <a:cubicBezTo>
                    <a:pt x="0" y="20329"/>
                    <a:pt x="20329" y="0"/>
                    <a:pt x="45406" y="0"/>
                  </a:cubicBezTo>
                  <a:close/>
                </a:path>
              </a:pathLst>
            </a:custGeom>
            <a:solidFill>
              <a:srgbClr val="6B64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 txBox="1"/>
            <p:nvPr/>
          </p:nvSpPr>
          <p:spPr>
            <a:xfrm>
              <a:off x="0" y="-38100"/>
              <a:ext cx="1697332" cy="268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15"/>
          <p:cNvSpPr txBox="1"/>
          <p:nvPr/>
        </p:nvSpPr>
        <p:spPr>
          <a:xfrm>
            <a:off x="3346834" y="113982"/>
            <a:ext cx="11594332" cy="1772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 de disponibilidad en pruebas controladas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4119" y="1586237"/>
            <a:ext cx="8079761" cy="8827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15"/>
          <p:cNvGrpSpPr/>
          <p:nvPr/>
        </p:nvGrpSpPr>
        <p:grpSpPr>
          <a:xfrm rot="524141">
            <a:off x="-1026670" y="6048456"/>
            <a:ext cx="4544240" cy="6138110"/>
            <a:chOff x="0" y="-38100"/>
            <a:chExt cx="665246" cy="898578"/>
          </a:xfrm>
        </p:grpSpPr>
        <p:sp>
          <p:nvSpPr>
            <p:cNvPr id="408" name="Google Shape;408;p15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15"/>
          <p:cNvGrpSpPr/>
          <p:nvPr/>
        </p:nvGrpSpPr>
        <p:grpSpPr>
          <a:xfrm rot="1605793">
            <a:off x="14820273" y="-1320861"/>
            <a:ext cx="12687804" cy="9870000"/>
            <a:chOff x="0" y="-38100"/>
            <a:chExt cx="1155115" cy="898578"/>
          </a:xfrm>
        </p:grpSpPr>
        <p:sp>
          <p:nvSpPr>
            <p:cNvPr id="411" name="Google Shape;411;p15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5"/>
          <p:cNvSpPr/>
          <p:nvPr/>
        </p:nvSpPr>
        <p:spPr>
          <a:xfrm>
            <a:off x="15201900" y="241060"/>
            <a:ext cx="1575279" cy="1575279"/>
          </a:xfrm>
          <a:custGeom>
            <a:rect b="b" l="l" r="r" t="t"/>
            <a:pathLst>
              <a:path extrusionOk="0" h="1575279" w="1575279">
                <a:moveTo>
                  <a:pt x="0" y="0"/>
                </a:moveTo>
                <a:lnTo>
                  <a:pt x="1575279" y="0"/>
                </a:lnTo>
                <a:lnTo>
                  <a:pt x="1575279" y="1575280"/>
                </a:lnTo>
                <a:lnTo>
                  <a:pt x="0" y="1575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16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419" name="Google Shape;419;p16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6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16"/>
          <p:cNvGrpSpPr/>
          <p:nvPr/>
        </p:nvGrpSpPr>
        <p:grpSpPr>
          <a:xfrm>
            <a:off x="6791106" y="2000314"/>
            <a:ext cx="4705788" cy="9308928"/>
            <a:chOff x="0" y="0"/>
            <a:chExt cx="2620010" cy="5182870"/>
          </a:xfrm>
        </p:grpSpPr>
        <p:sp>
          <p:nvSpPr>
            <p:cNvPr id="422" name="Google Shape;422;p16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p16"/>
          <p:cNvSpPr/>
          <p:nvPr/>
        </p:nvSpPr>
        <p:spPr>
          <a:xfrm>
            <a:off x="7410570" y="4214503"/>
            <a:ext cx="3466860" cy="3498666"/>
          </a:xfrm>
          <a:custGeom>
            <a:rect b="b" l="l" r="r" t="t"/>
            <a:pathLst>
              <a:path extrusionOk="0" h="3498666" w="3466860">
                <a:moveTo>
                  <a:pt x="0" y="0"/>
                </a:moveTo>
                <a:lnTo>
                  <a:pt x="3466860" y="0"/>
                </a:lnTo>
                <a:lnTo>
                  <a:pt x="3466860" y="3498666"/>
                </a:lnTo>
                <a:lnTo>
                  <a:pt x="0" y="3498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6"/>
          <p:cNvSpPr/>
          <p:nvPr/>
        </p:nvSpPr>
        <p:spPr>
          <a:xfrm>
            <a:off x="9259649" y="8014954"/>
            <a:ext cx="1608256" cy="1886517"/>
          </a:xfrm>
          <a:custGeom>
            <a:rect b="b" l="l" r="r" t="t"/>
            <a:pathLst>
              <a:path extrusionOk="0" h="1886517" w="1608256">
                <a:moveTo>
                  <a:pt x="0" y="0"/>
                </a:moveTo>
                <a:lnTo>
                  <a:pt x="1608256" y="0"/>
                </a:lnTo>
                <a:lnTo>
                  <a:pt x="1608256" y="1886518"/>
                </a:lnTo>
                <a:lnTo>
                  <a:pt x="0" y="1886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16"/>
          <p:cNvSpPr txBox="1"/>
          <p:nvPr/>
        </p:nvSpPr>
        <p:spPr>
          <a:xfrm>
            <a:off x="5576412" y="490538"/>
            <a:ext cx="7135176" cy="150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Fallas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17"/>
          <p:cNvGrpSpPr/>
          <p:nvPr/>
        </p:nvGrpSpPr>
        <p:grpSpPr>
          <a:xfrm>
            <a:off x="3346834" y="-19198"/>
            <a:ext cx="11594332" cy="1835537"/>
            <a:chOff x="0" y="-38100"/>
            <a:chExt cx="1697332" cy="268710"/>
          </a:xfrm>
        </p:grpSpPr>
        <p:sp>
          <p:nvSpPr>
            <p:cNvPr id="439" name="Google Shape;439;p17"/>
            <p:cNvSpPr/>
            <p:nvPr/>
          </p:nvSpPr>
          <p:spPr>
            <a:xfrm>
              <a:off x="0" y="0"/>
              <a:ext cx="1697332" cy="230610"/>
            </a:xfrm>
            <a:custGeom>
              <a:rect b="b" l="l" r="r" t="t"/>
              <a:pathLst>
                <a:path extrusionOk="0" h="230610" w="1697332">
                  <a:moveTo>
                    <a:pt x="45406" y="0"/>
                  </a:moveTo>
                  <a:lnTo>
                    <a:pt x="1651926" y="0"/>
                  </a:lnTo>
                  <a:cubicBezTo>
                    <a:pt x="1677003" y="0"/>
                    <a:pt x="1697332" y="20329"/>
                    <a:pt x="1697332" y="45406"/>
                  </a:cubicBezTo>
                  <a:lnTo>
                    <a:pt x="1697332" y="185204"/>
                  </a:lnTo>
                  <a:cubicBezTo>
                    <a:pt x="1697332" y="210281"/>
                    <a:pt x="1677003" y="230610"/>
                    <a:pt x="1651926" y="230610"/>
                  </a:cubicBezTo>
                  <a:lnTo>
                    <a:pt x="45406" y="230610"/>
                  </a:lnTo>
                  <a:cubicBezTo>
                    <a:pt x="20329" y="230610"/>
                    <a:pt x="0" y="210281"/>
                    <a:pt x="0" y="185204"/>
                  </a:cubicBezTo>
                  <a:lnTo>
                    <a:pt x="0" y="45406"/>
                  </a:lnTo>
                  <a:cubicBezTo>
                    <a:pt x="0" y="20329"/>
                    <a:pt x="20329" y="0"/>
                    <a:pt x="45406" y="0"/>
                  </a:cubicBezTo>
                  <a:close/>
                </a:path>
              </a:pathLst>
            </a:custGeom>
            <a:solidFill>
              <a:srgbClr val="6B64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7"/>
            <p:cNvSpPr txBox="1"/>
            <p:nvPr/>
          </p:nvSpPr>
          <p:spPr>
            <a:xfrm>
              <a:off x="0" y="-38100"/>
              <a:ext cx="1697332" cy="268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7"/>
          <p:cNvSpPr/>
          <p:nvPr/>
        </p:nvSpPr>
        <p:spPr>
          <a:xfrm>
            <a:off x="15145467" y="241060"/>
            <a:ext cx="1810407" cy="1645208"/>
          </a:xfrm>
          <a:custGeom>
            <a:rect b="b" l="l" r="r" t="t"/>
            <a:pathLst>
              <a:path extrusionOk="0" h="1645208" w="1810407">
                <a:moveTo>
                  <a:pt x="0" y="0"/>
                </a:moveTo>
                <a:lnTo>
                  <a:pt x="1810407" y="0"/>
                </a:lnTo>
                <a:lnTo>
                  <a:pt x="1810407" y="1645208"/>
                </a:lnTo>
                <a:lnTo>
                  <a:pt x="0" y="16452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17"/>
          <p:cNvSpPr txBox="1"/>
          <p:nvPr/>
        </p:nvSpPr>
        <p:spPr>
          <a:xfrm>
            <a:off x="3346834" y="113982"/>
            <a:ext cx="11594332" cy="1772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20% de invitaciones llegan a spam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oogle Shape;443;p17"/>
          <p:cNvGrpSpPr/>
          <p:nvPr/>
        </p:nvGrpSpPr>
        <p:grpSpPr>
          <a:xfrm rot="1605793">
            <a:off x="13003620" y="5311015"/>
            <a:ext cx="12687804" cy="9870000"/>
            <a:chOff x="0" y="-38100"/>
            <a:chExt cx="1155115" cy="898578"/>
          </a:xfrm>
        </p:grpSpPr>
        <p:sp>
          <p:nvSpPr>
            <p:cNvPr id="444" name="Google Shape;444;p17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7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7"/>
          <p:cNvGrpSpPr/>
          <p:nvPr/>
        </p:nvGrpSpPr>
        <p:grpSpPr>
          <a:xfrm rot="524141">
            <a:off x="-1597639" y="-1830369"/>
            <a:ext cx="4544240" cy="6138110"/>
            <a:chOff x="0" y="-38100"/>
            <a:chExt cx="665246" cy="898578"/>
          </a:xfrm>
        </p:grpSpPr>
        <p:sp>
          <p:nvSpPr>
            <p:cNvPr id="447" name="Google Shape;447;p17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7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9" name="Google Shape;4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139" y="1698305"/>
            <a:ext cx="8845136" cy="9106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8"/>
          <p:cNvGrpSpPr/>
          <p:nvPr/>
        </p:nvGrpSpPr>
        <p:grpSpPr>
          <a:xfrm>
            <a:off x="3346834" y="-19198"/>
            <a:ext cx="11594332" cy="1835537"/>
            <a:chOff x="0" y="-38100"/>
            <a:chExt cx="1697332" cy="268710"/>
          </a:xfrm>
        </p:grpSpPr>
        <p:sp>
          <p:nvSpPr>
            <p:cNvPr id="455" name="Google Shape;455;p18"/>
            <p:cNvSpPr/>
            <p:nvPr/>
          </p:nvSpPr>
          <p:spPr>
            <a:xfrm>
              <a:off x="0" y="0"/>
              <a:ext cx="1697332" cy="230610"/>
            </a:xfrm>
            <a:custGeom>
              <a:rect b="b" l="l" r="r" t="t"/>
              <a:pathLst>
                <a:path extrusionOk="0" h="230610" w="1697332">
                  <a:moveTo>
                    <a:pt x="45406" y="0"/>
                  </a:moveTo>
                  <a:lnTo>
                    <a:pt x="1651926" y="0"/>
                  </a:lnTo>
                  <a:cubicBezTo>
                    <a:pt x="1677003" y="0"/>
                    <a:pt x="1697332" y="20329"/>
                    <a:pt x="1697332" y="45406"/>
                  </a:cubicBezTo>
                  <a:lnTo>
                    <a:pt x="1697332" y="185204"/>
                  </a:lnTo>
                  <a:cubicBezTo>
                    <a:pt x="1697332" y="210281"/>
                    <a:pt x="1677003" y="230610"/>
                    <a:pt x="1651926" y="230610"/>
                  </a:cubicBezTo>
                  <a:lnTo>
                    <a:pt x="45406" y="230610"/>
                  </a:lnTo>
                  <a:cubicBezTo>
                    <a:pt x="20329" y="230610"/>
                    <a:pt x="0" y="210281"/>
                    <a:pt x="0" y="185204"/>
                  </a:cubicBezTo>
                  <a:lnTo>
                    <a:pt x="0" y="45406"/>
                  </a:lnTo>
                  <a:cubicBezTo>
                    <a:pt x="0" y="20329"/>
                    <a:pt x="20329" y="0"/>
                    <a:pt x="45406" y="0"/>
                  </a:cubicBezTo>
                  <a:close/>
                </a:path>
              </a:pathLst>
            </a:custGeom>
            <a:solidFill>
              <a:srgbClr val="6B64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 txBox="1"/>
            <p:nvPr/>
          </p:nvSpPr>
          <p:spPr>
            <a:xfrm>
              <a:off x="0" y="-38100"/>
              <a:ext cx="1697332" cy="268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7" name="Google Shape;4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405" y="1261715"/>
            <a:ext cx="8921190" cy="95629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18"/>
          <p:cNvGrpSpPr/>
          <p:nvPr/>
        </p:nvGrpSpPr>
        <p:grpSpPr>
          <a:xfrm rot="1605793">
            <a:off x="15367457" y="1954365"/>
            <a:ext cx="12687804" cy="9870000"/>
            <a:chOff x="0" y="-38100"/>
            <a:chExt cx="1155115" cy="898578"/>
          </a:xfrm>
        </p:grpSpPr>
        <p:sp>
          <p:nvSpPr>
            <p:cNvPr id="459" name="Google Shape;459;p18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18"/>
          <p:cNvGrpSpPr/>
          <p:nvPr/>
        </p:nvGrpSpPr>
        <p:grpSpPr>
          <a:xfrm rot="524141">
            <a:off x="-2616814" y="1630400"/>
            <a:ext cx="4544240" cy="6138110"/>
            <a:chOff x="0" y="-38100"/>
            <a:chExt cx="665246" cy="898578"/>
          </a:xfrm>
        </p:grpSpPr>
        <p:sp>
          <p:nvSpPr>
            <p:cNvPr id="462" name="Google Shape;462;p18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8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4" name="Google Shape;464;p18"/>
          <p:cNvSpPr/>
          <p:nvPr/>
        </p:nvSpPr>
        <p:spPr>
          <a:xfrm>
            <a:off x="15385618" y="241060"/>
            <a:ext cx="1328325" cy="1887495"/>
          </a:xfrm>
          <a:custGeom>
            <a:rect b="b" l="l" r="r" t="t"/>
            <a:pathLst>
              <a:path extrusionOk="0" h="1887495" w="1328325">
                <a:moveTo>
                  <a:pt x="0" y="0"/>
                </a:moveTo>
                <a:lnTo>
                  <a:pt x="1328325" y="0"/>
                </a:lnTo>
                <a:lnTo>
                  <a:pt x="1328325" y="1887495"/>
                </a:lnTo>
                <a:lnTo>
                  <a:pt x="0" y="1887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18"/>
          <p:cNvSpPr txBox="1"/>
          <p:nvPr/>
        </p:nvSpPr>
        <p:spPr>
          <a:xfrm>
            <a:off x="3346834" y="113982"/>
            <a:ext cx="11594332" cy="1772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 del adulto mayor no tenia activado el GPS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19"/>
          <p:cNvGrpSpPr/>
          <p:nvPr/>
        </p:nvGrpSpPr>
        <p:grpSpPr>
          <a:xfrm rot="524141">
            <a:off x="-1882175" y="6054151"/>
            <a:ext cx="4544240" cy="6138110"/>
            <a:chOff x="0" y="-38100"/>
            <a:chExt cx="665246" cy="898578"/>
          </a:xfrm>
        </p:grpSpPr>
        <p:sp>
          <p:nvSpPr>
            <p:cNvPr id="471" name="Google Shape;471;p19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9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3" name="Google Shape;473;p19"/>
          <p:cNvGrpSpPr/>
          <p:nvPr/>
        </p:nvGrpSpPr>
        <p:grpSpPr>
          <a:xfrm rot="1605793">
            <a:off x="14251201" y="21670"/>
            <a:ext cx="12687804" cy="9870000"/>
            <a:chOff x="0" y="-38100"/>
            <a:chExt cx="1155115" cy="898578"/>
          </a:xfrm>
        </p:grpSpPr>
        <p:sp>
          <p:nvSpPr>
            <p:cNvPr id="474" name="Google Shape;474;p19"/>
            <p:cNvSpPr/>
            <p:nvPr/>
          </p:nvSpPr>
          <p:spPr>
            <a:xfrm>
              <a:off x="0" y="0"/>
              <a:ext cx="1155115" cy="860478"/>
            </a:xfrm>
            <a:custGeom>
              <a:rect b="b" l="l" r="r" t="t"/>
              <a:pathLst>
                <a:path extrusionOk="0"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9"/>
            <p:cNvSpPr txBox="1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p19"/>
          <p:cNvGrpSpPr/>
          <p:nvPr/>
        </p:nvGrpSpPr>
        <p:grpSpPr>
          <a:xfrm>
            <a:off x="3365884" y="-19198"/>
            <a:ext cx="11594332" cy="1835537"/>
            <a:chOff x="0" y="-38100"/>
            <a:chExt cx="1697332" cy="268710"/>
          </a:xfrm>
        </p:grpSpPr>
        <p:sp>
          <p:nvSpPr>
            <p:cNvPr id="477" name="Google Shape;477;p19"/>
            <p:cNvSpPr/>
            <p:nvPr/>
          </p:nvSpPr>
          <p:spPr>
            <a:xfrm>
              <a:off x="0" y="0"/>
              <a:ext cx="1697332" cy="230610"/>
            </a:xfrm>
            <a:custGeom>
              <a:rect b="b" l="l" r="r" t="t"/>
              <a:pathLst>
                <a:path extrusionOk="0" h="230610" w="1697332">
                  <a:moveTo>
                    <a:pt x="45406" y="0"/>
                  </a:moveTo>
                  <a:lnTo>
                    <a:pt x="1651926" y="0"/>
                  </a:lnTo>
                  <a:cubicBezTo>
                    <a:pt x="1677003" y="0"/>
                    <a:pt x="1697332" y="20329"/>
                    <a:pt x="1697332" y="45406"/>
                  </a:cubicBezTo>
                  <a:lnTo>
                    <a:pt x="1697332" y="185204"/>
                  </a:lnTo>
                  <a:cubicBezTo>
                    <a:pt x="1697332" y="210281"/>
                    <a:pt x="1677003" y="230610"/>
                    <a:pt x="1651926" y="230610"/>
                  </a:cubicBezTo>
                  <a:lnTo>
                    <a:pt x="45406" y="230610"/>
                  </a:lnTo>
                  <a:cubicBezTo>
                    <a:pt x="20329" y="230610"/>
                    <a:pt x="0" y="210281"/>
                    <a:pt x="0" y="185204"/>
                  </a:cubicBezTo>
                  <a:lnTo>
                    <a:pt x="0" y="45406"/>
                  </a:lnTo>
                  <a:cubicBezTo>
                    <a:pt x="0" y="20329"/>
                    <a:pt x="20329" y="0"/>
                    <a:pt x="45406" y="0"/>
                  </a:cubicBezTo>
                  <a:close/>
                </a:path>
              </a:pathLst>
            </a:custGeom>
            <a:solidFill>
              <a:srgbClr val="6B64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9"/>
            <p:cNvSpPr txBox="1"/>
            <p:nvPr/>
          </p:nvSpPr>
          <p:spPr>
            <a:xfrm>
              <a:off x="0" y="-38100"/>
              <a:ext cx="1697332" cy="268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" name="Google Shape;479;p19"/>
          <p:cNvSpPr/>
          <p:nvPr/>
        </p:nvSpPr>
        <p:spPr>
          <a:xfrm>
            <a:off x="15214514" y="220477"/>
            <a:ext cx="1746498" cy="1595862"/>
          </a:xfrm>
          <a:custGeom>
            <a:rect b="b" l="l" r="r" t="t"/>
            <a:pathLst>
              <a:path extrusionOk="0" h="1595862" w="1746498">
                <a:moveTo>
                  <a:pt x="0" y="0"/>
                </a:moveTo>
                <a:lnTo>
                  <a:pt x="1746498" y="0"/>
                </a:lnTo>
                <a:lnTo>
                  <a:pt x="1746498" y="1595863"/>
                </a:lnTo>
                <a:lnTo>
                  <a:pt x="0" y="1595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19"/>
          <p:cNvSpPr txBox="1"/>
          <p:nvPr/>
        </p:nvSpPr>
        <p:spPr>
          <a:xfrm>
            <a:off x="3497208" y="-57150"/>
            <a:ext cx="11594332" cy="1772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 del adulto mayor tenia un Dispositivo sin internet o mala señal</a:t>
            </a:r>
            <a:endParaRPr/>
          </a:p>
        </p:txBody>
      </p:sp>
      <p:pic>
        <p:nvPicPr>
          <p:cNvPr id="481" name="Google Shape;4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394" y="910225"/>
            <a:ext cx="16619311" cy="1018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20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487" name="Google Shape;487;p20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0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20"/>
          <p:cNvGrpSpPr/>
          <p:nvPr/>
        </p:nvGrpSpPr>
        <p:grpSpPr>
          <a:xfrm rot="524141">
            <a:off x="14031155" y="7127614"/>
            <a:ext cx="7307079" cy="9870000"/>
            <a:chOff x="0" y="-38100"/>
            <a:chExt cx="665246" cy="898578"/>
          </a:xfrm>
        </p:grpSpPr>
        <p:sp>
          <p:nvSpPr>
            <p:cNvPr id="490" name="Google Shape;490;p20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0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" name="Google Shape;492;p20"/>
          <p:cNvSpPr txBox="1"/>
          <p:nvPr/>
        </p:nvSpPr>
        <p:spPr>
          <a:xfrm>
            <a:off x="0" y="352066"/>
            <a:ext cx="18484913" cy="1381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7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 de la validación</a:t>
            </a:r>
            <a:endParaRPr/>
          </a:p>
        </p:txBody>
      </p:sp>
      <p:sp>
        <p:nvSpPr>
          <p:cNvPr id="493" name="Google Shape;493;p20"/>
          <p:cNvSpPr/>
          <p:nvPr/>
        </p:nvSpPr>
        <p:spPr>
          <a:xfrm>
            <a:off x="4677708" y="1866302"/>
            <a:ext cx="8932584" cy="8021387"/>
          </a:xfrm>
          <a:custGeom>
            <a:rect b="b" l="l" r="r" t="t"/>
            <a:pathLst>
              <a:path extrusionOk="0" h="8021387" w="8932584">
                <a:moveTo>
                  <a:pt x="0" y="0"/>
                </a:moveTo>
                <a:lnTo>
                  <a:pt x="8932584" y="0"/>
                </a:lnTo>
                <a:lnTo>
                  <a:pt x="8932584" y="8021387"/>
                </a:lnTo>
                <a:lnTo>
                  <a:pt x="0" y="8021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86532" r="0" t="-56257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21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499" name="Google Shape;499;p2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21"/>
          <p:cNvGrpSpPr/>
          <p:nvPr/>
        </p:nvGrpSpPr>
        <p:grpSpPr>
          <a:xfrm rot="524141">
            <a:off x="14031155" y="7127614"/>
            <a:ext cx="7307079" cy="9870000"/>
            <a:chOff x="0" y="-38100"/>
            <a:chExt cx="665246" cy="898578"/>
          </a:xfrm>
        </p:grpSpPr>
        <p:sp>
          <p:nvSpPr>
            <p:cNvPr id="502" name="Google Shape;502;p21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1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" name="Google Shape;504;p21"/>
          <p:cNvSpPr/>
          <p:nvPr/>
        </p:nvSpPr>
        <p:spPr>
          <a:xfrm>
            <a:off x="2717423" y="1733909"/>
            <a:ext cx="12853155" cy="8246050"/>
          </a:xfrm>
          <a:custGeom>
            <a:rect b="b" l="l" r="r" t="t"/>
            <a:pathLst>
              <a:path extrusionOk="0" h="8246050" w="12853155">
                <a:moveTo>
                  <a:pt x="0" y="0"/>
                </a:moveTo>
                <a:lnTo>
                  <a:pt x="12853154" y="0"/>
                </a:lnTo>
                <a:lnTo>
                  <a:pt x="12853154" y="8246050"/>
                </a:lnTo>
                <a:lnTo>
                  <a:pt x="0" y="8246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5" name="Google Shape;505;p21"/>
          <p:cNvSpPr txBox="1"/>
          <p:nvPr/>
        </p:nvSpPr>
        <p:spPr>
          <a:xfrm>
            <a:off x="5030433" y="352066"/>
            <a:ext cx="8227134" cy="1381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7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Benchmark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511" name="Google Shape;511;p2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 rot="524141">
            <a:off x="11761522" y="4116482"/>
            <a:ext cx="7307079" cy="9870000"/>
            <a:chOff x="0" y="-38100"/>
            <a:chExt cx="665246" cy="898578"/>
          </a:xfrm>
        </p:grpSpPr>
        <p:sp>
          <p:nvSpPr>
            <p:cNvPr id="514" name="Google Shape;514;p2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p22"/>
          <p:cNvGrpSpPr/>
          <p:nvPr/>
        </p:nvGrpSpPr>
        <p:grpSpPr>
          <a:xfrm>
            <a:off x="2907507" y="2396837"/>
            <a:ext cx="14168570" cy="5035295"/>
            <a:chOff x="0" y="-38100"/>
            <a:chExt cx="3731640" cy="1326168"/>
          </a:xfrm>
        </p:grpSpPr>
        <p:sp>
          <p:nvSpPr>
            <p:cNvPr id="517" name="Google Shape;517;p22"/>
            <p:cNvSpPr/>
            <p:nvPr/>
          </p:nvSpPr>
          <p:spPr>
            <a:xfrm>
              <a:off x="0" y="0"/>
              <a:ext cx="3731640" cy="1288068"/>
            </a:xfrm>
            <a:custGeom>
              <a:rect b="b" l="l" r="r" t="t"/>
              <a:pathLst>
                <a:path extrusionOk="0"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2"/>
            <p:cNvSpPr txBox="1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22"/>
          <p:cNvSpPr txBox="1"/>
          <p:nvPr/>
        </p:nvSpPr>
        <p:spPr>
          <a:xfrm>
            <a:off x="5525540" y="3416034"/>
            <a:ext cx="11057710" cy="1823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9" u="none" cap="none" strike="noStrike">
                <a:solidFill>
                  <a:srgbClr val="6B64B8"/>
                </a:solidFill>
                <a:latin typeface="Poppins"/>
                <a:ea typeface="Poppins"/>
                <a:cs typeface="Poppins"/>
                <a:sym typeface="Poppins"/>
              </a:rPr>
              <a:t>AlertaVital</a:t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-187319" y="2979927"/>
            <a:ext cx="4194964" cy="3548283"/>
          </a:xfrm>
          <a:custGeom>
            <a:rect b="b" l="l" r="r" t="t"/>
            <a:pathLst>
              <a:path extrusionOk="0" h="3548283" w="4194964">
                <a:moveTo>
                  <a:pt x="0" y="0"/>
                </a:moveTo>
                <a:lnTo>
                  <a:pt x="4194964" y="0"/>
                </a:lnTo>
                <a:lnTo>
                  <a:pt x="4194964" y="3548283"/>
                </a:lnTo>
                <a:lnTo>
                  <a:pt x="0" y="3548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675" l="-1472" r="-5675" t="0"/>
            </a:stretch>
          </a:blipFill>
          <a:ln>
            <a:noFill/>
          </a:ln>
        </p:spPr>
      </p:sp>
      <p:grpSp>
        <p:nvGrpSpPr>
          <p:cNvPr id="521" name="Google Shape;521;p22"/>
          <p:cNvGrpSpPr/>
          <p:nvPr/>
        </p:nvGrpSpPr>
        <p:grpSpPr>
          <a:xfrm rot="524141">
            <a:off x="-548407" y="-1809294"/>
            <a:ext cx="4544240" cy="6138110"/>
            <a:chOff x="0" y="-38100"/>
            <a:chExt cx="665246" cy="898578"/>
          </a:xfrm>
        </p:grpSpPr>
        <p:sp>
          <p:nvSpPr>
            <p:cNvPr id="522" name="Google Shape;522;p2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22"/>
          <p:cNvGrpSpPr/>
          <p:nvPr/>
        </p:nvGrpSpPr>
        <p:grpSpPr>
          <a:xfrm rot="524141">
            <a:off x="11913922" y="4268882"/>
            <a:ext cx="7307079" cy="9870000"/>
            <a:chOff x="0" y="-38100"/>
            <a:chExt cx="665246" cy="898578"/>
          </a:xfrm>
        </p:grpSpPr>
        <p:sp>
          <p:nvSpPr>
            <p:cNvPr id="525" name="Google Shape;525;p22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2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22"/>
          <p:cNvGrpSpPr/>
          <p:nvPr/>
        </p:nvGrpSpPr>
        <p:grpSpPr>
          <a:xfrm>
            <a:off x="3059907" y="2549237"/>
            <a:ext cx="14168570" cy="5035295"/>
            <a:chOff x="0" y="-38100"/>
            <a:chExt cx="3731640" cy="1326168"/>
          </a:xfrm>
        </p:grpSpPr>
        <p:sp>
          <p:nvSpPr>
            <p:cNvPr id="528" name="Google Shape;528;p22"/>
            <p:cNvSpPr/>
            <p:nvPr/>
          </p:nvSpPr>
          <p:spPr>
            <a:xfrm>
              <a:off x="0" y="0"/>
              <a:ext cx="3731640" cy="1288068"/>
            </a:xfrm>
            <a:custGeom>
              <a:rect b="b" l="l" r="r" t="t"/>
              <a:pathLst>
                <a:path extrusionOk="0"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2"/>
            <p:cNvSpPr txBox="1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0" name="Google Shape;530;p22"/>
          <p:cNvGrpSpPr/>
          <p:nvPr/>
        </p:nvGrpSpPr>
        <p:grpSpPr>
          <a:xfrm>
            <a:off x="5560042" y="6245457"/>
            <a:ext cx="10491831" cy="420845"/>
            <a:chOff x="0" y="-38100"/>
            <a:chExt cx="2763281" cy="110840"/>
          </a:xfrm>
        </p:grpSpPr>
        <p:sp>
          <p:nvSpPr>
            <p:cNvPr id="531" name="Google Shape;531;p22"/>
            <p:cNvSpPr/>
            <p:nvPr/>
          </p:nvSpPr>
          <p:spPr>
            <a:xfrm>
              <a:off x="0" y="0"/>
              <a:ext cx="2763281" cy="72740"/>
            </a:xfrm>
            <a:custGeom>
              <a:rect b="b" l="l" r="r" t="t"/>
              <a:pathLst>
                <a:path extrusionOk="0" h="72740" w="2763281">
                  <a:moveTo>
                    <a:pt x="36370" y="0"/>
                  </a:moveTo>
                  <a:lnTo>
                    <a:pt x="2726911" y="0"/>
                  </a:lnTo>
                  <a:cubicBezTo>
                    <a:pt x="2736557" y="0"/>
                    <a:pt x="2745808" y="3832"/>
                    <a:pt x="2752628" y="10652"/>
                  </a:cubicBezTo>
                  <a:cubicBezTo>
                    <a:pt x="2759449" y="17473"/>
                    <a:pt x="2763281" y="26724"/>
                    <a:pt x="2763281" y="36370"/>
                  </a:cubicBezTo>
                  <a:lnTo>
                    <a:pt x="2763281" y="36370"/>
                  </a:lnTo>
                  <a:cubicBezTo>
                    <a:pt x="2763281" y="56456"/>
                    <a:pt x="2746997" y="72740"/>
                    <a:pt x="2726911" y="72740"/>
                  </a:cubicBezTo>
                  <a:lnTo>
                    <a:pt x="36370" y="72740"/>
                  </a:lnTo>
                  <a:cubicBezTo>
                    <a:pt x="26724" y="72740"/>
                    <a:pt x="17473" y="68908"/>
                    <a:pt x="10652" y="62087"/>
                  </a:cubicBezTo>
                  <a:cubicBezTo>
                    <a:pt x="3832" y="55267"/>
                    <a:pt x="0" y="46016"/>
                    <a:pt x="0" y="36370"/>
                  </a:cubicBezTo>
                  <a:lnTo>
                    <a:pt x="0" y="36370"/>
                  </a:lnTo>
                  <a:cubicBezTo>
                    <a:pt x="0" y="26724"/>
                    <a:pt x="3832" y="17473"/>
                    <a:pt x="10652" y="10652"/>
                  </a:cubicBezTo>
                  <a:cubicBezTo>
                    <a:pt x="17473" y="3832"/>
                    <a:pt x="26724" y="0"/>
                    <a:pt x="36370" y="0"/>
                  </a:cubicBezTo>
                  <a:close/>
                </a:path>
              </a:pathLst>
            </a:custGeom>
            <a:solidFill>
              <a:srgbClr val="FF5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2"/>
            <p:cNvSpPr txBox="1"/>
            <p:nvPr/>
          </p:nvSpPr>
          <p:spPr>
            <a:xfrm>
              <a:off x="0" y="-38100"/>
              <a:ext cx="2763281" cy="110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p22"/>
          <p:cNvGrpSpPr/>
          <p:nvPr/>
        </p:nvGrpSpPr>
        <p:grpSpPr>
          <a:xfrm>
            <a:off x="-366640" y="1181100"/>
            <a:ext cx="5069887" cy="10029185"/>
            <a:chOff x="0" y="0"/>
            <a:chExt cx="2620010" cy="5182870"/>
          </a:xfrm>
        </p:grpSpPr>
        <p:sp>
          <p:nvSpPr>
            <p:cNvPr id="534" name="Google Shape;534;p22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" name="Google Shape;543;p22">
            <a:hlinkClick r:id="rId4"/>
          </p:cNvPr>
          <p:cNvSpPr/>
          <p:nvPr/>
        </p:nvSpPr>
        <p:spPr>
          <a:xfrm>
            <a:off x="1263975" y="4058535"/>
            <a:ext cx="1808659" cy="2006834"/>
          </a:xfrm>
          <a:custGeom>
            <a:rect b="b" l="l" r="r" t="t"/>
            <a:pathLst>
              <a:path extrusionOk="0"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4" name="Google Shape;544;p22"/>
          <p:cNvSpPr/>
          <p:nvPr/>
        </p:nvSpPr>
        <p:spPr>
          <a:xfrm>
            <a:off x="-34919" y="3132327"/>
            <a:ext cx="4194964" cy="3548283"/>
          </a:xfrm>
          <a:custGeom>
            <a:rect b="b" l="l" r="r" t="t"/>
            <a:pathLst>
              <a:path extrusionOk="0" h="3548283" w="4194964">
                <a:moveTo>
                  <a:pt x="0" y="0"/>
                </a:moveTo>
                <a:lnTo>
                  <a:pt x="4194964" y="0"/>
                </a:lnTo>
                <a:lnTo>
                  <a:pt x="4194964" y="3548283"/>
                </a:lnTo>
                <a:lnTo>
                  <a:pt x="0" y="3548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675" l="-1472" r="-5675" t="0"/>
            </a:stretch>
          </a:blipFill>
          <a:ln>
            <a:noFill/>
          </a:ln>
        </p:spPr>
      </p:sp>
      <p:sp>
        <p:nvSpPr>
          <p:cNvPr id="545" name="Google Shape;545;p22"/>
          <p:cNvSpPr txBox="1"/>
          <p:nvPr/>
        </p:nvSpPr>
        <p:spPr>
          <a:xfrm>
            <a:off x="6457649" y="3396984"/>
            <a:ext cx="9078034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6B64B8"/>
                </a:solidFill>
                <a:latin typeface="Poppins"/>
                <a:ea typeface="Poppins"/>
                <a:cs typeface="Poppins"/>
                <a:sym typeface="Poppins"/>
              </a:rPr>
              <a:t>Proyecciones Futuras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8CE4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23"/>
          <p:cNvGrpSpPr/>
          <p:nvPr/>
        </p:nvGrpSpPr>
        <p:grpSpPr>
          <a:xfrm rot="524141">
            <a:off x="-700807" y="-1961694"/>
            <a:ext cx="4544240" cy="6138110"/>
            <a:chOff x="0" y="-38100"/>
            <a:chExt cx="665246" cy="898578"/>
          </a:xfrm>
        </p:grpSpPr>
        <p:sp>
          <p:nvSpPr>
            <p:cNvPr id="551" name="Google Shape;551;p23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3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3" name="Google Shape;553;p23"/>
          <p:cNvGrpSpPr/>
          <p:nvPr/>
        </p:nvGrpSpPr>
        <p:grpSpPr>
          <a:xfrm rot="524141">
            <a:off x="15592302" y="6604446"/>
            <a:ext cx="7307079" cy="9870000"/>
            <a:chOff x="0" y="-38100"/>
            <a:chExt cx="665246" cy="898578"/>
          </a:xfrm>
        </p:grpSpPr>
        <p:sp>
          <p:nvSpPr>
            <p:cNvPr id="554" name="Google Shape;554;p23"/>
            <p:cNvSpPr/>
            <p:nvPr/>
          </p:nvSpPr>
          <p:spPr>
            <a:xfrm>
              <a:off x="0" y="0"/>
              <a:ext cx="665246" cy="860478"/>
            </a:xfrm>
            <a:custGeom>
              <a:rect b="b" l="l" r="r" t="t"/>
              <a:pathLst>
                <a:path extrusionOk="0"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3"/>
            <p:cNvSpPr txBox="1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23"/>
          <p:cNvSpPr txBox="1"/>
          <p:nvPr/>
        </p:nvSpPr>
        <p:spPr>
          <a:xfrm>
            <a:off x="7762782" y="3831735"/>
            <a:ext cx="10888522" cy="131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6" u="none" cap="none" strike="noStrike">
                <a:solidFill>
                  <a:srgbClr val="F7B8D2"/>
                </a:solidFill>
                <a:latin typeface="Poppins"/>
                <a:ea typeface="Poppins"/>
                <a:cs typeface="Poppins"/>
                <a:sym typeface="Poppins"/>
              </a:rPr>
              <a:t>Funcionamiento</a:t>
            </a:r>
            <a:endParaRPr/>
          </a:p>
        </p:txBody>
      </p:sp>
      <p:sp>
        <p:nvSpPr>
          <p:cNvPr id="557" name="Google Shape;557;p23"/>
          <p:cNvSpPr txBox="1"/>
          <p:nvPr/>
        </p:nvSpPr>
        <p:spPr>
          <a:xfrm>
            <a:off x="10692413" y="5205478"/>
            <a:ext cx="6841895" cy="1314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6" u="none" cap="none" strike="noStrike">
                <a:solidFill>
                  <a:srgbClr val="E9E9E9"/>
                </a:solidFill>
                <a:latin typeface="Poppins"/>
                <a:ea typeface="Poppins"/>
                <a:cs typeface="Poppins"/>
                <a:sym typeface="Poppins"/>
              </a:rPr>
              <a:t>Alerta Vital</a:t>
            </a:r>
            <a:endParaRPr/>
          </a:p>
        </p:txBody>
      </p:sp>
      <p:grpSp>
        <p:nvGrpSpPr>
          <p:cNvPr id="558" name="Google Shape;558;p23"/>
          <p:cNvGrpSpPr/>
          <p:nvPr/>
        </p:nvGrpSpPr>
        <p:grpSpPr>
          <a:xfrm>
            <a:off x="2215044" y="2189233"/>
            <a:ext cx="5098077" cy="10084950"/>
            <a:chOff x="0" y="0"/>
            <a:chExt cx="6797436" cy="13446599"/>
          </a:xfrm>
        </p:grpSpPr>
        <p:grpSp>
          <p:nvGrpSpPr>
            <p:cNvPr id="559" name="Google Shape;559;p23"/>
            <p:cNvGrpSpPr/>
            <p:nvPr/>
          </p:nvGrpSpPr>
          <p:grpSpPr>
            <a:xfrm>
              <a:off x="0" y="0"/>
              <a:ext cx="6797436" cy="13446599"/>
              <a:chOff x="0" y="0"/>
              <a:chExt cx="2620010" cy="5182870"/>
            </a:xfrm>
          </p:grpSpPr>
          <p:sp>
            <p:nvSpPr>
              <p:cNvPr id="560" name="Google Shape;560;p23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rect b="b" l="l" r="r" t="t"/>
                <a:pathLst>
                  <a:path extrusionOk="0"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rect b="b" l="l" r="r" t="t"/>
                <a:pathLst>
                  <a:path extrusionOk="0"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rect b="b" l="l" r="r" t="t"/>
                <a:pathLst>
                  <a:path extrusionOk="0"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rect b="b" l="l" r="r" t="t"/>
                <a:pathLst>
                  <a:path extrusionOk="0"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rect b="b" l="l" r="r" t="t"/>
                <a:pathLst>
                  <a:path extrusionOk="0"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3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rect b="b" l="l" r="r" t="t"/>
                <a:pathLst>
                  <a:path extrusionOk="0"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rect b="b" l="l" r="r" t="t"/>
                <a:pathLst>
                  <a:path extrusionOk="0"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rect b="b" l="l" r="r" t="t"/>
                <a:pathLst>
                  <a:path extrusionOk="0"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rect b="b" l="l" r="r" t="t"/>
                <a:pathLst>
                  <a:path extrusionOk="0"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69" name="Google Shape;569;p23"/>
            <p:cNvSpPr/>
            <p:nvPr/>
          </p:nvSpPr>
          <p:spPr>
            <a:xfrm>
              <a:off x="792575" y="3409426"/>
              <a:ext cx="5212286" cy="4731044"/>
            </a:xfrm>
            <a:custGeom>
              <a:rect b="b" l="l" r="r" t="t"/>
              <a:pathLst>
                <a:path extrusionOk="0" h="4731044" w="5212286">
                  <a:moveTo>
                    <a:pt x="0" y="0"/>
                  </a:moveTo>
                  <a:lnTo>
                    <a:pt x="5212286" y="0"/>
                  </a:lnTo>
                  <a:lnTo>
                    <a:pt x="5212286" y="4731044"/>
                  </a:lnTo>
                  <a:lnTo>
                    <a:pt x="0" y="47310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675" l="-8887" r="-6090" t="0"/>
              </a:stretch>
            </a:blipFill>
            <a:ln>
              <a:noFill/>
            </a:ln>
          </p:spPr>
        </p:sp>
      </p:grpSp>
      <p:sp>
        <p:nvSpPr>
          <p:cNvPr id="570" name="Google Shape;570;p23"/>
          <p:cNvSpPr txBox="1"/>
          <p:nvPr/>
        </p:nvSpPr>
        <p:spPr>
          <a:xfrm>
            <a:off x="14487803" y="7390752"/>
            <a:ext cx="794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Github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