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B90P066fzKTummYkQ4BLXJG9G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949d29e8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949d29e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949d29e8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9949d29e8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949d29e8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9949d29e8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8E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6982806">
            <a:off x="720300" y="6421716"/>
            <a:ext cx="8842272" cy="11861584"/>
          </a:xfrm>
          <a:custGeom>
            <a:rect b="b" l="l" r="r" t="t"/>
            <a:pathLst>
              <a:path extrusionOk="0" h="11861584" w="8842272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-6501204">
            <a:off x="11046831" y="-5088864"/>
            <a:ext cx="8807178" cy="11814508"/>
          </a:xfrm>
          <a:custGeom>
            <a:rect b="b" l="l" r="r" t="t"/>
            <a:pathLst>
              <a:path extrusionOk="0" h="11814508" w="880717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5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10571821">
            <a:off x="10628437" y="8363453"/>
            <a:ext cx="5947318" cy="7978109"/>
          </a:xfrm>
          <a:custGeom>
            <a:rect b="b" l="l" r="r" t="t"/>
            <a:pathLst>
              <a:path extrusionOk="0" h="7978109" w="5947318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 rot="-5114765">
            <a:off x="11561828" y="5146485"/>
            <a:ext cx="8542938" cy="7393525"/>
          </a:xfrm>
          <a:custGeom>
            <a:rect b="b" l="l" r="r" t="t"/>
            <a:pathLst>
              <a:path extrusionOk="0"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 rot="-5058328">
            <a:off x="13255544" y="-4131370"/>
            <a:ext cx="7156478" cy="6935278"/>
          </a:xfrm>
          <a:custGeom>
            <a:rect b="b" l="l" r="r" t="t"/>
            <a:pathLst>
              <a:path extrusionOk="0" h="6935278" w="71564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rot="3318101">
            <a:off x="-3880130" y="6803731"/>
            <a:ext cx="10117864" cy="10062676"/>
          </a:xfrm>
          <a:custGeom>
            <a:rect b="b" l="l" r="r" t="t"/>
            <a:pathLst>
              <a:path extrusionOk="0" h="10062676" w="10117864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 rot="6800871">
            <a:off x="-1846725" y="-2878373"/>
            <a:ext cx="8542938" cy="7393525"/>
          </a:xfrm>
          <a:custGeom>
            <a:rect b="b" l="l" r="r" t="t"/>
            <a:pathLst>
              <a:path extrusionOk="0"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5141436" y="6374086"/>
            <a:ext cx="8005127" cy="242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Realizado por: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Daniel Jofre 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Ismael Tapia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Dante Vargas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550998" y="4008735"/>
            <a:ext cx="11186003" cy="2040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98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ALERTAVITAL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5490215" y="2798420"/>
            <a:ext cx="7307570" cy="1086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4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PROYECTO APT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8E4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11245649" y="650149"/>
            <a:ext cx="12664739" cy="9028707"/>
          </a:xfrm>
          <a:custGeom>
            <a:rect b="b" l="l" r="r" t="t"/>
            <a:pathLst>
              <a:path extrusionOk="0" h="9028707" w="12664739">
                <a:moveTo>
                  <a:pt x="0" y="0"/>
                </a:moveTo>
                <a:lnTo>
                  <a:pt x="12664739" y="0"/>
                </a:lnTo>
                <a:lnTo>
                  <a:pt x="12664739" y="9028707"/>
                </a:lnTo>
                <a:lnTo>
                  <a:pt x="0" y="9028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018" r="-6511" t="-1621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 rot="-445925">
            <a:off x="3142738" y="-692511"/>
            <a:ext cx="9798172" cy="13143890"/>
          </a:xfrm>
          <a:custGeom>
            <a:rect b="b" l="l" r="r" t="t"/>
            <a:pathLst>
              <a:path extrusionOk="0"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 rot="-8798399">
            <a:off x="8466276" y="-9590538"/>
            <a:ext cx="9798172" cy="13143890"/>
          </a:xfrm>
          <a:custGeom>
            <a:rect b="b" l="l" r="r" t="t"/>
            <a:pathLst>
              <a:path extrusionOk="0"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 rot="3283157">
            <a:off x="-1501206" y="7329841"/>
            <a:ext cx="5624862" cy="7545546"/>
          </a:xfrm>
          <a:custGeom>
            <a:rect b="b" l="l" r="r" t="t"/>
            <a:pathLst>
              <a:path extrusionOk="0"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 rot="2770156">
            <a:off x="-2577184" y="-2748940"/>
            <a:ext cx="5154368" cy="4995052"/>
          </a:xfrm>
          <a:custGeom>
            <a:rect b="b" l="l" r="r" t="t"/>
            <a:pathLst>
              <a:path extrusionOk="0"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 rot="2770156">
            <a:off x="15710816" y="8522875"/>
            <a:ext cx="5154368" cy="4995052"/>
          </a:xfrm>
          <a:custGeom>
            <a:rect b="b" l="l" r="r" t="t"/>
            <a:pathLst>
              <a:path extrusionOk="0"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495066" y="2071218"/>
            <a:ext cx="10329049" cy="6838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78000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En Chile, los adultos mayores enfrentan soledad, aislamiento social y baja resiliencia tras la pandemia.</a:t>
            </a:r>
            <a:endParaRPr/>
          </a:p>
          <a:p>
            <a:pPr indent="-377825" lvl="1" marL="755651" marR="0" rtl="0" algn="just">
              <a:lnSpc>
                <a:spcPct val="178000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El confinamiento aumentó la tristeza, el aislamiento y redujo la actividad física, incrementando el riesgo de caídas</a:t>
            </a:r>
            <a:endParaRPr/>
          </a:p>
          <a:p>
            <a:pPr indent="0" lvl="0" marL="0" marR="0" rtl="0" algn="just">
              <a:lnSpc>
                <a:spcPct val="1627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74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853128" y="747435"/>
            <a:ext cx="8324690" cy="125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26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PROBLEMATICA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375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4"/>
          <p:cNvGrpSpPr/>
          <p:nvPr/>
        </p:nvGrpSpPr>
        <p:grpSpPr>
          <a:xfrm>
            <a:off x="1110202" y="2739000"/>
            <a:ext cx="5141050" cy="6519300"/>
            <a:chOff x="0" y="0"/>
            <a:chExt cx="812800" cy="1030701"/>
          </a:xfrm>
        </p:grpSpPr>
        <p:sp>
          <p:nvSpPr>
            <p:cNvPr id="111" name="Google Shape;111;p4"/>
            <p:cNvSpPr/>
            <p:nvPr/>
          </p:nvSpPr>
          <p:spPr>
            <a:xfrm>
              <a:off x="0" y="0"/>
              <a:ext cx="812800" cy="1030701"/>
            </a:xfrm>
            <a:custGeom>
              <a:rect b="b" l="l" r="r" t="t"/>
              <a:pathLst>
                <a:path extrusionOk="0" h="1030701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991548"/>
                  </a:lnTo>
                  <a:cubicBezTo>
                    <a:pt x="812800" y="1013172"/>
                    <a:pt x="795270" y="1030701"/>
                    <a:pt x="773647" y="1030701"/>
                  </a:cubicBezTo>
                  <a:lnTo>
                    <a:pt x="39153" y="1030701"/>
                  </a:lnTo>
                  <a:cubicBezTo>
                    <a:pt x="28769" y="1030701"/>
                    <a:pt x="18810" y="1026576"/>
                    <a:pt x="11468" y="1019234"/>
                  </a:cubicBezTo>
                  <a:cubicBezTo>
                    <a:pt x="4125" y="1011891"/>
                    <a:pt x="0" y="1001932"/>
                    <a:pt x="0" y="991548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4"/>
            <p:cNvSpPr txBox="1"/>
            <p:nvPr/>
          </p:nvSpPr>
          <p:spPr>
            <a:xfrm>
              <a:off x="0" y="9525"/>
              <a:ext cx="812800" cy="1021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4"/>
          <p:cNvGrpSpPr/>
          <p:nvPr/>
        </p:nvGrpSpPr>
        <p:grpSpPr>
          <a:xfrm>
            <a:off x="6575103" y="2739000"/>
            <a:ext cx="5141050" cy="6519300"/>
            <a:chOff x="0" y="0"/>
            <a:chExt cx="812800" cy="1030701"/>
          </a:xfrm>
        </p:grpSpPr>
        <p:sp>
          <p:nvSpPr>
            <p:cNvPr id="114" name="Google Shape;114;p4"/>
            <p:cNvSpPr/>
            <p:nvPr/>
          </p:nvSpPr>
          <p:spPr>
            <a:xfrm>
              <a:off x="0" y="0"/>
              <a:ext cx="812800" cy="1030701"/>
            </a:xfrm>
            <a:custGeom>
              <a:rect b="b" l="l" r="r" t="t"/>
              <a:pathLst>
                <a:path extrusionOk="0" h="1030701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991548"/>
                  </a:lnTo>
                  <a:cubicBezTo>
                    <a:pt x="812800" y="1013172"/>
                    <a:pt x="795270" y="1030701"/>
                    <a:pt x="773647" y="1030701"/>
                  </a:cubicBezTo>
                  <a:lnTo>
                    <a:pt x="39153" y="1030701"/>
                  </a:lnTo>
                  <a:cubicBezTo>
                    <a:pt x="28769" y="1030701"/>
                    <a:pt x="18810" y="1026576"/>
                    <a:pt x="11468" y="1019234"/>
                  </a:cubicBezTo>
                  <a:cubicBezTo>
                    <a:pt x="4125" y="1011891"/>
                    <a:pt x="0" y="1001932"/>
                    <a:pt x="0" y="991548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0" y="9525"/>
              <a:ext cx="812800" cy="1021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4"/>
          <p:cNvGrpSpPr/>
          <p:nvPr/>
        </p:nvGrpSpPr>
        <p:grpSpPr>
          <a:xfrm>
            <a:off x="12040003" y="2739000"/>
            <a:ext cx="5141050" cy="6519300"/>
            <a:chOff x="0" y="0"/>
            <a:chExt cx="812800" cy="1030701"/>
          </a:xfrm>
        </p:grpSpPr>
        <p:sp>
          <p:nvSpPr>
            <p:cNvPr id="117" name="Google Shape;117;p4"/>
            <p:cNvSpPr/>
            <p:nvPr/>
          </p:nvSpPr>
          <p:spPr>
            <a:xfrm>
              <a:off x="0" y="0"/>
              <a:ext cx="812800" cy="1030701"/>
            </a:xfrm>
            <a:custGeom>
              <a:rect b="b" l="l" r="r" t="t"/>
              <a:pathLst>
                <a:path extrusionOk="0" h="1030701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991548"/>
                  </a:lnTo>
                  <a:cubicBezTo>
                    <a:pt x="812800" y="1013172"/>
                    <a:pt x="795270" y="1030701"/>
                    <a:pt x="773647" y="1030701"/>
                  </a:cubicBezTo>
                  <a:lnTo>
                    <a:pt x="39153" y="1030701"/>
                  </a:lnTo>
                  <a:cubicBezTo>
                    <a:pt x="28769" y="1030701"/>
                    <a:pt x="18810" y="1026576"/>
                    <a:pt x="11468" y="1019234"/>
                  </a:cubicBezTo>
                  <a:cubicBezTo>
                    <a:pt x="4125" y="1011891"/>
                    <a:pt x="0" y="1001932"/>
                    <a:pt x="0" y="991548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4"/>
            <p:cNvSpPr txBox="1"/>
            <p:nvPr/>
          </p:nvSpPr>
          <p:spPr>
            <a:xfrm>
              <a:off x="0" y="9525"/>
              <a:ext cx="812800" cy="1021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4"/>
          <p:cNvSpPr txBox="1"/>
          <p:nvPr/>
        </p:nvSpPr>
        <p:spPr>
          <a:xfrm>
            <a:off x="1854048" y="346525"/>
            <a:ext cx="11452200" cy="11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26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LITERATURA (</a:t>
            </a:r>
            <a:r>
              <a:rPr b="1" lang="en-US" sz="7326">
                <a:solidFill>
                  <a:srgbClr val="EDE8E4"/>
                </a:solidFill>
              </a:rPr>
              <a:t>graficos</a:t>
            </a:r>
            <a:r>
              <a:rPr b="1" i="0" lang="en-US" sz="7326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1395766" y="3627097"/>
            <a:ext cx="4384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3754"/>
                </a:solidFill>
                <a:latin typeface="Arial"/>
                <a:ea typeface="Arial"/>
                <a:cs typeface="Arial"/>
                <a:sym typeface="Arial"/>
              </a:rPr>
              <a:t>Oppenheimer-Lewin et al. (2022): 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6863922" y="3483563"/>
            <a:ext cx="464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3754"/>
                </a:solidFill>
                <a:latin typeface="Arial"/>
                <a:ea typeface="Arial"/>
                <a:cs typeface="Arial"/>
                <a:sym typeface="Arial"/>
              </a:rPr>
              <a:t>Almonacid-Fierro (2021):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12167228" y="3454988"/>
            <a:ext cx="4886601" cy="750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1" u="none" cap="none" strike="noStrike">
                <a:solidFill>
                  <a:srgbClr val="253754"/>
                </a:solidFill>
                <a:latin typeface="Arial"/>
                <a:ea typeface="Arial"/>
                <a:cs typeface="Arial"/>
                <a:sym typeface="Arial"/>
              </a:rPr>
              <a:t>Conclusión: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2673248" y="1800048"/>
            <a:ext cx="2008447" cy="1983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28" u="none" cap="none" strike="noStrike">
                <a:solidFill>
                  <a:srgbClr val="D89C6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8139777" y="1800048"/>
            <a:ext cx="2008447" cy="1983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28" u="none" cap="none" strike="noStrike">
                <a:solidFill>
                  <a:srgbClr val="D89C6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520250" y="4735300"/>
            <a:ext cx="45633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Adultos mayores solitarios presentan 1.8 veces más riesgo de baja resiliencia, lo que dificulta recuperarse tras caídas.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6863922" y="4465282"/>
            <a:ext cx="45633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Confinamiento redujo la actividad física y aumentó el aislamiento, debilitando la salud y autonomía de adultos mayores.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12247528" y="4330197"/>
            <a:ext cx="4563300" cy="54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La evidencia reciente vincula soledad, género, aislamiento y menor movilidad con un mayor riesgo de caídas y accidentes no reportados.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00" u="none" cap="none" strike="noStrike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4"/>
          <p:cNvCxnSpPr/>
          <p:nvPr/>
        </p:nvCxnSpPr>
        <p:spPr>
          <a:xfrm>
            <a:off x="1311213" y="4941547"/>
            <a:ext cx="4732518" cy="0"/>
          </a:xfrm>
          <a:prstGeom prst="straightConnector1">
            <a:avLst/>
          </a:prstGeom>
          <a:noFill/>
          <a:ln cap="flat" cmpd="sng" w="38100">
            <a:solidFill>
              <a:srgbClr val="25375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4"/>
          <p:cNvCxnSpPr/>
          <p:nvPr/>
        </p:nvCxnSpPr>
        <p:spPr>
          <a:xfrm>
            <a:off x="6983622" y="4205272"/>
            <a:ext cx="4732500" cy="0"/>
          </a:xfrm>
          <a:prstGeom prst="straightConnector1">
            <a:avLst/>
          </a:prstGeom>
          <a:noFill/>
          <a:ln cap="flat" cmpd="sng" w="38100">
            <a:solidFill>
              <a:srgbClr val="25375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4"/>
          <p:cNvCxnSpPr/>
          <p:nvPr/>
        </p:nvCxnSpPr>
        <p:spPr>
          <a:xfrm>
            <a:off x="12244285" y="4205272"/>
            <a:ext cx="4732500" cy="0"/>
          </a:xfrm>
          <a:prstGeom prst="straightConnector1">
            <a:avLst/>
          </a:prstGeom>
          <a:noFill/>
          <a:ln cap="flat" cmpd="sng" w="38100">
            <a:solidFill>
              <a:srgbClr val="2537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4"/>
          <p:cNvSpPr/>
          <p:nvPr/>
        </p:nvSpPr>
        <p:spPr>
          <a:xfrm>
            <a:off x="16321534" y="-285545"/>
            <a:ext cx="1966466" cy="1884231"/>
          </a:xfrm>
          <a:custGeom>
            <a:rect b="b" l="l" r="r" t="t"/>
            <a:pathLst>
              <a:path extrusionOk="0"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4"/>
          <p:cNvSpPr/>
          <p:nvPr/>
        </p:nvSpPr>
        <p:spPr>
          <a:xfrm>
            <a:off x="17304767" y="854768"/>
            <a:ext cx="1966466" cy="1884231"/>
          </a:xfrm>
          <a:custGeom>
            <a:rect b="b" l="l" r="r" t="t"/>
            <a:pathLst>
              <a:path extrusionOk="0"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4"/>
          <p:cNvSpPr/>
          <p:nvPr/>
        </p:nvSpPr>
        <p:spPr>
          <a:xfrm>
            <a:off x="0" y="9258300"/>
            <a:ext cx="1966466" cy="1884231"/>
          </a:xfrm>
          <a:custGeom>
            <a:rect b="b" l="l" r="r" t="t"/>
            <a:pathLst>
              <a:path extrusionOk="0"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4"/>
          <p:cNvSpPr/>
          <p:nvPr/>
        </p:nvSpPr>
        <p:spPr>
          <a:xfrm>
            <a:off x="-937766" y="8402769"/>
            <a:ext cx="1966466" cy="1884231"/>
          </a:xfrm>
          <a:custGeom>
            <a:rect b="b" l="l" r="r" t="t"/>
            <a:pathLst>
              <a:path extrusionOk="0"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4"/>
          <p:cNvSpPr/>
          <p:nvPr/>
        </p:nvSpPr>
        <p:spPr>
          <a:xfrm rot="672866">
            <a:off x="-1311592" y="-2660479"/>
            <a:ext cx="6556116" cy="6126988"/>
          </a:xfrm>
          <a:custGeom>
            <a:rect b="b" l="l" r="r" t="t"/>
            <a:pathLst>
              <a:path extrusionOk="0" h="6126988" w="6556116">
                <a:moveTo>
                  <a:pt x="0" y="0"/>
                </a:moveTo>
                <a:lnTo>
                  <a:pt x="6556115" y="0"/>
                </a:lnTo>
                <a:lnTo>
                  <a:pt x="6556115" y="6126989"/>
                </a:lnTo>
                <a:lnTo>
                  <a:pt x="0" y="61269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4"/>
          <p:cNvSpPr/>
          <p:nvPr/>
        </p:nvSpPr>
        <p:spPr>
          <a:xfrm rot="-10799999">
            <a:off x="12715117" y="7583041"/>
            <a:ext cx="6556116" cy="6126988"/>
          </a:xfrm>
          <a:custGeom>
            <a:rect b="b" l="l" r="r" t="t"/>
            <a:pathLst>
              <a:path extrusionOk="0"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 txBox="1"/>
          <p:nvPr/>
        </p:nvSpPr>
        <p:spPr>
          <a:xfrm>
            <a:off x="13602103" y="1710122"/>
            <a:ext cx="2008447" cy="1983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28" u="none" cap="none" strike="noStrike">
                <a:solidFill>
                  <a:srgbClr val="D89C6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8E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/>
          <p:nvPr/>
        </p:nvSpPr>
        <p:spPr>
          <a:xfrm rot="-6501204">
            <a:off x="-4899086" y="-8147683"/>
            <a:ext cx="9798172" cy="13143890"/>
          </a:xfrm>
          <a:custGeom>
            <a:rect b="b" l="l" r="r" t="t"/>
            <a:pathLst>
              <a:path extrusionOk="0"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3"/>
          <p:cNvSpPr/>
          <p:nvPr/>
        </p:nvSpPr>
        <p:spPr>
          <a:xfrm rot="-8798399">
            <a:off x="11434890" y="2417332"/>
            <a:ext cx="9798172" cy="13143890"/>
          </a:xfrm>
          <a:custGeom>
            <a:rect b="b" l="l" r="r" t="t"/>
            <a:pathLst>
              <a:path extrusionOk="0"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3"/>
          <p:cNvSpPr/>
          <p:nvPr/>
        </p:nvSpPr>
        <p:spPr>
          <a:xfrm rot="-10301337">
            <a:off x="12000108" y="-1996778"/>
            <a:ext cx="10899329" cy="9432874"/>
          </a:xfrm>
          <a:custGeom>
            <a:rect b="b" l="l" r="r" t="t"/>
            <a:pathLst>
              <a:path extrusionOk="0" h="9432874" w="10899329">
                <a:moveTo>
                  <a:pt x="0" y="0"/>
                </a:moveTo>
                <a:lnTo>
                  <a:pt x="10899330" y="0"/>
                </a:lnTo>
                <a:lnTo>
                  <a:pt x="10899330" y="9432874"/>
                </a:lnTo>
                <a:lnTo>
                  <a:pt x="0" y="9432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3"/>
          <p:cNvSpPr/>
          <p:nvPr/>
        </p:nvSpPr>
        <p:spPr>
          <a:xfrm rot="458160">
            <a:off x="-3775194" y="6616870"/>
            <a:ext cx="8481393" cy="7340260"/>
          </a:xfrm>
          <a:custGeom>
            <a:rect b="b" l="l" r="r" t="t"/>
            <a:pathLst>
              <a:path extrusionOk="0"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3"/>
          <p:cNvSpPr/>
          <p:nvPr/>
        </p:nvSpPr>
        <p:spPr>
          <a:xfrm>
            <a:off x="9283572" y="3503225"/>
            <a:ext cx="6280608" cy="3627051"/>
          </a:xfrm>
          <a:custGeom>
            <a:rect b="b" l="l" r="r" t="t"/>
            <a:pathLst>
              <a:path extrusionOk="0" h="3627051" w="6280608">
                <a:moveTo>
                  <a:pt x="0" y="0"/>
                </a:moveTo>
                <a:lnTo>
                  <a:pt x="6280608" y="0"/>
                </a:lnTo>
                <a:lnTo>
                  <a:pt x="6280608" y="3627050"/>
                </a:lnTo>
                <a:lnTo>
                  <a:pt x="0" y="3627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3"/>
          <p:cNvSpPr txBox="1"/>
          <p:nvPr/>
        </p:nvSpPr>
        <p:spPr>
          <a:xfrm>
            <a:off x="2103245" y="1146549"/>
            <a:ext cx="64116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61">
                <a:solidFill>
                  <a:srgbClr val="152540"/>
                </a:solidFill>
              </a:rPr>
              <a:t>Solución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884875" y="3183275"/>
            <a:ext cx="7871700" cy="44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9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Aplicación móvil accesible </a:t>
            </a:r>
            <a:r>
              <a:rPr lang="en-US" sz="4395">
                <a:solidFill>
                  <a:srgbClr val="152540"/>
                </a:solidFill>
              </a:rPr>
              <a:t>enfocada </a:t>
            </a:r>
            <a:r>
              <a:rPr b="0" i="0" lang="en-US" sz="439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adultos mayores</a:t>
            </a:r>
            <a:r>
              <a:rPr lang="en-US" sz="4395">
                <a:solidFill>
                  <a:srgbClr val="152540"/>
                </a:solidFill>
              </a:rPr>
              <a:t> para que puedan </a:t>
            </a:r>
            <a:r>
              <a:rPr b="0" i="0" lang="en-US" sz="439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env</a:t>
            </a:r>
            <a:r>
              <a:rPr lang="en-US" sz="4395">
                <a:solidFill>
                  <a:srgbClr val="152540"/>
                </a:solidFill>
              </a:rPr>
              <a:t>iar</a:t>
            </a:r>
            <a:r>
              <a:rPr b="0" i="0" lang="en-US" sz="439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 alertas automáticas a contactos de emergencia </a:t>
            </a:r>
            <a:r>
              <a:rPr lang="en-US" sz="4395">
                <a:solidFill>
                  <a:srgbClr val="152540"/>
                </a:solidFill>
              </a:rPr>
              <a:t>más</a:t>
            </a:r>
            <a:r>
              <a:rPr b="0" i="0" lang="en-US" sz="439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395">
                <a:solidFill>
                  <a:srgbClr val="152540"/>
                </a:solidFill>
              </a:rPr>
              <a:t>cercanos</a:t>
            </a:r>
            <a:r>
              <a:rPr b="0" i="0" lang="en-US" sz="439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8E4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/>
        </p:nvSpPr>
        <p:spPr>
          <a:xfrm>
            <a:off x="1677037" y="1093661"/>
            <a:ext cx="8324700" cy="11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26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 rot="-6399961">
            <a:off x="11329998" y="-1574727"/>
            <a:ext cx="13805122" cy="17698875"/>
          </a:xfrm>
          <a:custGeom>
            <a:rect b="b" l="l" r="r" t="t"/>
            <a:pathLst>
              <a:path extrusionOk="0"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5"/>
          <p:cNvSpPr/>
          <p:nvPr/>
        </p:nvSpPr>
        <p:spPr>
          <a:xfrm>
            <a:off x="10943201" y="111911"/>
            <a:ext cx="5339389" cy="5339389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sq" cmpd="sng" w="95250">
            <a:solidFill>
              <a:srgbClr val="1E7C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15572246" y="8746182"/>
            <a:ext cx="1966466" cy="1884231"/>
          </a:xfrm>
          <a:custGeom>
            <a:rect b="b" l="l" r="r" t="t"/>
            <a:pathLst>
              <a:path extrusionOk="0"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5"/>
          <p:cNvSpPr/>
          <p:nvPr/>
        </p:nvSpPr>
        <p:spPr>
          <a:xfrm>
            <a:off x="17259300" y="8746182"/>
            <a:ext cx="1966466" cy="1884231"/>
          </a:xfrm>
          <a:custGeom>
            <a:rect b="b" l="l" r="r" t="t"/>
            <a:pathLst>
              <a:path extrusionOk="0"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5"/>
          <p:cNvSpPr/>
          <p:nvPr/>
        </p:nvSpPr>
        <p:spPr>
          <a:xfrm rot="656700">
            <a:off x="-503083" y="-3521302"/>
            <a:ext cx="6560724" cy="6131295"/>
          </a:xfrm>
          <a:custGeom>
            <a:rect b="b" l="l" r="r" t="t"/>
            <a:pathLst>
              <a:path extrusionOk="0"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5"/>
          <p:cNvSpPr txBox="1"/>
          <p:nvPr/>
        </p:nvSpPr>
        <p:spPr>
          <a:xfrm>
            <a:off x="1196575" y="2369025"/>
            <a:ext cx="9285600" cy="7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4904" lvl="1" marL="749808" marR="0" rtl="0" algn="just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472"/>
              <a:buFont typeface="Arial"/>
              <a:buChar char="•"/>
            </a:pPr>
            <a:r>
              <a:rPr b="0" i="0" lang="en-US" sz="3472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Flexibilidad y entregas incrementales.</a:t>
            </a:r>
            <a:endParaRPr/>
          </a:p>
          <a:p>
            <a:pPr indent="0" lvl="0" marL="0" marR="0" rtl="0" algn="just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72" u="none" cap="none" strike="noStrike">
              <a:solidFill>
                <a:srgbClr val="15254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4904" lvl="1" marL="749808" marR="0" rtl="0" algn="just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472"/>
              <a:buFont typeface="Arial"/>
              <a:buChar char="•"/>
            </a:pPr>
            <a:r>
              <a:rPr b="0" i="0" lang="en-US" sz="3472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Permite adaptarnos a cambios y validar avances en cada sprint.</a:t>
            </a:r>
            <a:endParaRPr/>
          </a:p>
          <a:p>
            <a:pPr indent="0" lvl="0" marL="0" marR="0" rtl="0" algn="just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72" u="none" cap="none" strike="noStrike">
              <a:solidFill>
                <a:srgbClr val="15254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4904" lvl="1" marL="749808" marR="0" rtl="0" algn="just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472"/>
              <a:buFont typeface="Arial"/>
              <a:buChar char="•"/>
            </a:pPr>
            <a:r>
              <a:rPr b="0" i="0" lang="en-US" sz="3472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Priorización de funcionalidades críticas.</a:t>
            </a:r>
            <a:endParaRPr/>
          </a:p>
          <a:p>
            <a:pPr indent="0" lvl="0" marL="0" marR="0" rtl="0" algn="just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72" u="none" cap="none" strike="noStrike">
              <a:solidFill>
                <a:srgbClr val="15254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4904" lvl="1" marL="749808" marR="0" rtl="0" algn="just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472"/>
              <a:buFont typeface="Arial"/>
              <a:buChar char="•"/>
            </a:pPr>
            <a:r>
              <a:rPr b="0" i="0" lang="en-US" sz="3472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Favorece la colaboración, control del progreso y retroalimentación continua.</a:t>
            </a:r>
            <a:endParaRPr/>
          </a:p>
          <a:p>
            <a:pPr indent="0" lvl="0" marL="0" marR="0" rtl="0" algn="just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72" u="none" cap="none" strike="noStrike">
              <a:solidFill>
                <a:srgbClr val="15254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4904" lvl="1" marL="749808" marR="0" rtl="0" algn="just">
              <a:lnSpc>
                <a:spcPct val="119009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472"/>
              <a:buFont typeface="Arial"/>
              <a:buChar char="•"/>
            </a:pPr>
            <a:r>
              <a:rPr b="0" i="0" lang="en-US" sz="3472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Control con los sprints y su duración para cada tarea.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949d29e89_0_0"/>
          <p:cNvSpPr txBox="1"/>
          <p:nvPr/>
        </p:nvSpPr>
        <p:spPr>
          <a:xfrm>
            <a:off x="6309750" y="2153100"/>
            <a:ext cx="861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3754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-2168237" y="-4818587"/>
            <a:ext cx="8535602" cy="7976908"/>
          </a:xfrm>
          <a:custGeom>
            <a:rect b="b" l="l" r="r" t="t"/>
            <a:pathLst>
              <a:path extrusionOk="0" h="7976908" w="8535602">
                <a:moveTo>
                  <a:pt x="0" y="0"/>
                </a:moveTo>
                <a:lnTo>
                  <a:pt x="8535601" y="0"/>
                </a:lnTo>
                <a:lnTo>
                  <a:pt x="8535601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6"/>
          <p:cNvSpPr/>
          <p:nvPr/>
        </p:nvSpPr>
        <p:spPr>
          <a:xfrm rot="-10151301">
            <a:off x="10311625" y="6232171"/>
            <a:ext cx="8535602" cy="7976908"/>
          </a:xfrm>
          <a:custGeom>
            <a:rect b="b" l="l" r="r" t="t"/>
            <a:pathLst>
              <a:path extrusionOk="0"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1" name="Google Shape;171;p6"/>
          <p:cNvGrpSpPr/>
          <p:nvPr/>
        </p:nvGrpSpPr>
        <p:grpSpPr>
          <a:xfrm>
            <a:off x="1028700" y="2587068"/>
            <a:ext cx="4474715" cy="4186037"/>
            <a:chOff x="0" y="0"/>
            <a:chExt cx="997323" cy="932983"/>
          </a:xfrm>
        </p:grpSpPr>
        <p:sp>
          <p:nvSpPr>
            <p:cNvPr id="172" name="Google Shape;172;p6"/>
            <p:cNvSpPr/>
            <p:nvPr/>
          </p:nvSpPr>
          <p:spPr>
            <a:xfrm>
              <a:off x="0" y="0"/>
              <a:ext cx="997323" cy="932983"/>
            </a:xfrm>
            <a:custGeom>
              <a:rect b="b" l="l" r="r" t="t"/>
              <a:pathLst>
                <a:path extrusionOk="0" h="932983" w="99732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E3D8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 txBox="1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6"/>
          <p:cNvSpPr txBox="1"/>
          <p:nvPr/>
        </p:nvSpPr>
        <p:spPr>
          <a:xfrm>
            <a:off x="8750893" y="623400"/>
            <a:ext cx="8756750" cy="1414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71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TECNOLOGIAS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 rot="10800000">
            <a:off x="1028700" y="2587068"/>
            <a:ext cx="4474715" cy="1033825"/>
          </a:xfrm>
          <a:custGeom>
            <a:rect b="b" l="l" r="r" t="t"/>
            <a:pathLst>
              <a:path extrusionOk="0" h="1033825" w="447471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473591"/>
            </a:stretch>
          </a:blipFill>
          <a:ln>
            <a:noFill/>
          </a:ln>
        </p:spPr>
      </p:sp>
      <p:sp>
        <p:nvSpPr>
          <p:cNvPr id="176" name="Google Shape;176;p6"/>
          <p:cNvSpPr/>
          <p:nvPr/>
        </p:nvSpPr>
        <p:spPr>
          <a:xfrm>
            <a:off x="-800991" y="7841762"/>
            <a:ext cx="5482705" cy="4884592"/>
          </a:xfrm>
          <a:custGeom>
            <a:rect b="b" l="l" r="r" t="t"/>
            <a:pathLst>
              <a:path extrusionOk="0" h="4884592" w="5482705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6"/>
          <p:cNvSpPr/>
          <p:nvPr/>
        </p:nvSpPr>
        <p:spPr>
          <a:xfrm rot="10452176">
            <a:off x="15012576" y="-2759682"/>
            <a:ext cx="5482705" cy="4884592"/>
          </a:xfrm>
          <a:custGeom>
            <a:rect b="b" l="l" r="r" t="t"/>
            <a:pathLst>
              <a:path extrusionOk="0" h="4884592" w="5482705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6"/>
          <p:cNvSpPr/>
          <p:nvPr/>
        </p:nvSpPr>
        <p:spPr>
          <a:xfrm>
            <a:off x="2099563" y="5817093"/>
            <a:ext cx="2332988" cy="2332988"/>
          </a:xfrm>
          <a:custGeom>
            <a:rect b="b" l="l" r="r" t="t"/>
            <a:pathLst>
              <a:path extrusionOk="0" h="2332988" w="2332988">
                <a:moveTo>
                  <a:pt x="0" y="0"/>
                </a:moveTo>
                <a:lnTo>
                  <a:pt x="2332988" y="0"/>
                </a:lnTo>
                <a:lnTo>
                  <a:pt x="2332988" y="2332988"/>
                </a:lnTo>
                <a:lnTo>
                  <a:pt x="0" y="2332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9" name="Google Shape;179;p6"/>
          <p:cNvGrpSpPr/>
          <p:nvPr/>
        </p:nvGrpSpPr>
        <p:grpSpPr>
          <a:xfrm>
            <a:off x="6450164" y="2587068"/>
            <a:ext cx="4474715" cy="4186037"/>
            <a:chOff x="0" y="0"/>
            <a:chExt cx="997323" cy="932983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997323" cy="932983"/>
            </a:xfrm>
            <a:custGeom>
              <a:rect b="b" l="l" r="r" t="t"/>
              <a:pathLst>
                <a:path extrusionOk="0" h="932983" w="99732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E3D8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6"/>
            <p:cNvSpPr txBox="1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6"/>
          <p:cNvSpPr/>
          <p:nvPr/>
        </p:nvSpPr>
        <p:spPr>
          <a:xfrm rot="10800000">
            <a:off x="6450164" y="2587068"/>
            <a:ext cx="4474715" cy="1033825"/>
          </a:xfrm>
          <a:custGeom>
            <a:rect b="b" l="l" r="r" t="t"/>
            <a:pathLst>
              <a:path extrusionOk="0" h="1033825" w="4474715">
                <a:moveTo>
                  <a:pt x="0" y="0"/>
                </a:moveTo>
                <a:lnTo>
                  <a:pt x="4474714" y="0"/>
                </a:lnTo>
                <a:lnTo>
                  <a:pt x="4474714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473591"/>
            </a:stretch>
          </a:blipFill>
          <a:ln>
            <a:noFill/>
          </a:ln>
        </p:spPr>
      </p:sp>
      <p:sp>
        <p:nvSpPr>
          <p:cNvPr id="183" name="Google Shape;183;p6"/>
          <p:cNvSpPr/>
          <p:nvPr/>
        </p:nvSpPr>
        <p:spPr>
          <a:xfrm>
            <a:off x="6987688" y="5931036"/>
            <a:ext cx="3248811" cy="2436608"/>
          </a:xfrm>
          <a:custGeom>
            <a:rect b="b" l="l" r="r" t="t"/>
            <a:pathLst>
              <a:path extrusionOk="0" h="2436608" w="3248811">
                <a:moveTo>
                  <a:pt x="0" y="0"/>
                </a:moveTo>
                <a:lnTo>
                  <a:pt x="3248810" y="0"/>
                </a:lnTo>
                <a:lnTo>
                  <a:pt x="3248810" y="2436608"/>
                </a:lnTo>
                <a:lnTo>
                  <a:pt x="0" y="2436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6"/>
          <p:cNvSpPr/>
          <p:nvPr/>
        </p:nvSpPr>
        <p:spPr>
          <a:xfrm>
            <a:off x="9568092" y="5642809"/>
            <a:ext cx="1620371" cy="1671008"/>
          </a:xfrm>
          <a:custGeom>
            <a:rect b="b" l="l" r="r" t="t"/>
            <a:pathLst>
              <a:path extrusionOk="0" h="1671008" w="1620371">
                <a:moveTo>
                  <a:pt x="0" y="0"/>
                </a:moveTo>
                <a:lnTo>
                  <a:pt x="1620371" y="0"/>
                </a:lnTo>
                <a:lnTo>
                  <a:pt x="1620371" y="1671008"/>
                </a:lnTo>
                <a:lnTo>
                  <a:pt x="0" y="1671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5" name="Google Shape;185;p6"/>
          <p:cNvGrpSpPr/>
          <p:nvPr/>
        </p:nvGrpSpPr>
        <p:grpSpPr>
          <a:xfrm>
            <a:off x="12342068" y="2587068"/>
            <a:ext cx="4474715" cy="4186037"/>
            <a:chOff x="0" y="0"/>
            <a:chExt cx="997323" cy="932983"/>
          </a:xfrm>
        </p:grpSpPr>
        <p:sp>
          <p:nvSpPr>
            <p:cNvPr id="186" name="Google Shape;186;p6"/>
            <p:cNvSpPr/>
            <p:nvPr/>
          </p:nvSpPr>
          <p:spPr>
            <a:xfrm>
              <a:off x="0" y="0"/>
              <a:ext cx="997323" cy="932983"/>
            </a:xfrm>
            <a:custGeom>
              <a:rect b="b" l="l" r="r" t="t"/>
              <a:pathLst>
                <a:path extrusionOk="0" h="932983" w="99732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E3D8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6"/>
            <p:cNvSpPr txBox="1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6"/>
          <p:cNvSpPr/>
          <p:nvPr/>
        </p:nvSpPr>
        <p:spPr>
          <a:xfrm rot="10800000">
            <a:off x="12342068" y="2587068"/>
            <a:ext cx="4474715" cy="1033825"/>
          </a:xfrm>
          <a:custGeom>
            <a:rect b="b" l="l" r="r" t="t"/>
            <a:pathLst>
              <a:path extrusionOk="0" h="1033825" w="447471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473591"/>
            </a:stretch>
          </a:blipFill>
          <a:ln>
            <a:noFill/>
          </a:ln>
        </p:spPr>
      </p:sp>
      <p:sp>
        <p:nvSpPr>
          <p:cNvPr id="189" name="Google Shape;189;p6"/>
          <p:cNvSpPr/>
          <p:nvPr/>
        </p:nvSpPr>
        <p:spPr>
          <a:xfrm>
            <a:off x="12630150" y="5862825"/>
            <a:ext cx="3898551" cy="2504819"/>
          </a:xfrm>
          <a:custGeom>
            <a:rect b="b" l="l" r="r" t="t"/>
            <a:pathLst>
              <a:path extrusionOk="0" h="2504819" w="3898551">
                <a:moveTo>
                  <a:pt x="0" y="0"/>
                </a:moveTo>
                <a:lnTo>
                  <a:pt x="3898551" y="0"/>
                </a:lnTo>
                <a:lnTo>
                  <a:pt x="3898551" y="2504819"/>
                </a:lnTo>
                <a:lnTo>
                  <a:pt x="0" y="250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6"/>
          <p:cNvSpPr txBox="1"/>
          <p:nvPr/>
        </p:nvSpPr>
        <p:spPr>
          <a:xfrm>
            <a:off x="1467664" y="2807151"/>
            <a:ext cx="3596786" cy="62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57" u="none" cap="none" strike="noStrike">
                <a:solidFill>
                  <a:srgbClr val="253754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1316782" y="4000543"/>
            <a:ext cx="3898551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FLUTTER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6889128" y="2807151"/>
            <a:ext cx="3596786" cy="62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57" u="none" cap="none" strike="noStrike">
                <a:solidFill>
                  <a:srgbClr val="253754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6738245" y="3752986"/>
            <a:ext cx="3898551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 Node.js + PostgreSQL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12781033" y="2807151"/>
            <a:ext cx="3596786" cy="62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57" u="none" cap="none" strike="noStrike">
                <a:solidFill>
                  <a:srgbClr val="253754"/>
                </a:solidFill>
                <a:latin typeface="Arial"/>
                <a:ea typeface="Arial"/>
                <a:cs typeface="Arial"/>
                <a:sym typeface="Arial"/>
              </a:rPr>
              <a:t>Entrenamiento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12630150" y="3893384"/>
            <a:ext cx="3898551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8E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/>
          <p:nvPr/>
        </p:nvSpPr>
        <p:spPr>
          <a:xfrm>
            <a:off x="4235367" y="773125"/>
            <a:ext cx="9817265" cy="1252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26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-290950" y="-2033784"/>
            <a:ext cx="5544196" cy="5181303"/>
          </a:xfrm>
          <a:custGeom>
            <a:rect b="b" l="l" r="r" t="t"/>
            <a:pathLst>
              <a:path extrusionOk="0" h="5181303" w="5544196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7"/>
          <p:cNvSpPr/>
          <p:nvPr/>
        </p:nvSpPr>
        <p:spPr>
          <a:xfrm rot="-9354559">
            <a:off x="12207201" y="5475509"/>
            <a:ext cx="8367389" cy="7819705"/>
          </a:xfrm>
          <a:custGeom>
            <a:rect b="b" l="l" r="r" t="t"/>
            <a:pathLst>
              <a:path extrusionOk="0" h="7819705" w="8367389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7"/>
          <p:cNvSpPr/>
          <p:nvPr/>
        </p:nvSpPr>
        <p:spPr>
          <a:xfrm rot="5400000">
            <a:off x="13112837" y="-1659911"/>
            <a:ext cx="6556116" cy="6126988"/>
          </a:xfrm>
          <a:custGeom>
            <a:rect b="b" l="l" r="r" t="t"/>
            <a:pathLst>
              <a:path extrusionOk="0"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7"/>
          <p:cNvSpPr/>
          <p:nvPr/>
        </p:nvSpPr>
        <p:spPr>
          <a:xfrm rot="-5521968">
            <a:off x="-1614569" y="6194806"/>
            <a:ext cx="6556116" cy="6126988"/>
          </a:xfrm>
          <a:custGeom>
            <a:rect b="b" l="l" r="r" t="t"/>
            <a:pathLst>
              <a:path extrusionOk="0"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7"/>
          <p:cNvSpPr/>
          <p:nvPr/>
        </p:nvSpPr>
        <p:spPr>
          <a:xfrm>
            <a:off x="3765975" y="2341073"/>
            <a:ext cx="1075359" cy="1178182"/>
          </a:xfrm>
          <a:custGeom>
            <a:rect b="b" l="l" r="r" t="t"/>
            <a:pathLst>
              <a:path extrusionOk="0" h="1178182" w="1075359">
                <a:moveTo>
                  <a:pt x="0" y="0"/>
                </a:moveTo>
                <a:lnTo>
                  <a:pt x="1075359" y="0"/>
                </a:lnTo>
                <a:lnTo>
                  <a:pt x="1075359" y="1178182"/>
                </a:lnTo>
                <a:lnTo>
                  <a:pt x="0" y="11781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7"/>
          <p:cNvSpPr/>
          <p:nvPr/>
        </p:nvSpPr>
        <p:spPr>
          <a:xfrm>
            <a:off x="13022259" y="2341073"/>
            <a:ext cx="1030373" cy="1178182"/>
          </a:xfrm>
          <a:custGeom>
            <a:rect b="b" l="l" r="r" t="t"/>
            <a:pathLst>
              <a:path extrusionOk="0" h="1178182" w="1030373">
                <a:moveTo>
                  <a:pt x="0" y="0"/>
                </a:moveTo>
                <a:lnTo>
                  <a:pt x="1030374" y="0"/>
                </a:lnTo>
                <a:lnTo>
                  <a:pt x="1030374" y="1178182"/>
                </a:lnTo>
                <a:lnTo>
                  <a:pt x="0" y="11781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7"/>
          <p:cNvSpPr txBox="1"/>
          <p:nvPr/>
        </p:nvSpPr>
        <p:spPr>
          <a:xfrm>
            <a:off x="1824588" y="3783134"/>
            <a:ext cx="49581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82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Requerimientos funcionales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10249859" y="3747671"/>
            <a:ext cx="6155085" cy="45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82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Requerimientos No funcionales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1420826" y="4475106"/>
            <a:ext cx="6676800" cy="42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5439" lvl="1" marL="690881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Alertas con countdown y botón “estoy bien” </a:t>
            </a:r>
            <a:endParaRPr/>
          </a:p>
          <a:p>
            <a:pPr indent="-345439" lvl="1" marL="690881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Envió automático de SMS con geolocalización</a:t>
            </a:r>
            <a:endParaRPr/>
          </a:p>
          <a:p>
            <a:pPr indent="-345439" lvl="1" marL="690881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Panel web para contactos con mapa y mensajes como “voy” o “falsa alarma”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10249440" y="4475106"/>
            <a:ext cx="6576000" cy="3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81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Accesibilidad digital(Botones grandes, voz, vibración)</a:t>
            </a:r>
            <a:endParaRPr/>
          </a:p>
          <a:p>
            <a:pPr indent="-345439" lvl="1" marL="690881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Baja latencia en detección y alertas</a:t>
            </a:r>
            <a:endParaRPr/>
          </a:p>
          <a:p>
            <a:pPr indent="-345439" lvl="1" marL="690881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Optimización del consumo </a:t>
            </a:r>
            <a:r>
              <a:rPr lang="en-US" sz="3200">
                <a:solidFill>
                  <a:srgbClr val="152540"/>
                </a:solidFill>
                <a:latin typeface="Open Sans"/>
                <a:ea typeface="Open Sans"/>
                <a:cs typeface="Open Sans"/>
                <a:sym typeface="Open Sans"/>
              </a:rPr>
              <a:t>energético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8E4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438131" y="7173582"/>
            <a:ext cx="7641686" cy="6808048"/>
          </a:xfrm>
          <a:custGeom>
            <a:rect b="b" l="l" r="r" t="t"/>
            <a:pathLst>
              <a:path extrusionOk="0" h="6808048" w="7641686">
                <a:moveTo>
                  <a:pt x="0" y="0"/>
                </a:moveTo>
                <a:lnTo>
                  <a:pt x="7641686" y="0"/>
                </a:lnTo>
                <a:lnTo>
                  <a:pt x="7641686" y="6808048"/>
                </a:lnTo>
                <a:lnTo>
                  <a:pt x="0" y="68080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8"/>
          <p:cNvSpPr/>
          <p:nvPr/>
        </p:nvSpPr>
        <p:spPr>
          <a:xfrm>
            <a:off x="11849738" y="-4940726"/>
            <a:ext cx="7641686" cy="6808048"/>
          </a:xfrm>
          <a:custGeom>
            <a:rect b="b" l="l" r="r" t="t"/>
            <a:pathLst>
              <a:path extrusionOk="0" h="6808048" w="7641686">
                <a:moveTo>
                  <a:pt x="0" y="0"/>
                </a:moveTo>
                <a:lnTo>
                  <a:pt x="7641686" y="0"/>
                </a:lnTo>
                <a:lnTo>
                  <a:pt x="7641686" y="6808048"/>
                </a:lnTo>
                <a:lnTo>
                  <a:pt x="0" y="68080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8"/>
          <p:cNvSpPr/>
          <p:nvPr/>
        </p:nvSpPr>
        <p:spPr>
          <a:xfrm rot="-8798399">
            <a:off x="13156923" y="1016610"/>
            <a:ext cx="9798172" cy="13143890"/>
          </a:xfrm>
          <a:custGeom>
            <a:rect b="b" l="l" r="r" t="t"/>
            <a:pathLst>
              <a:path extrusionOk="0"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8"/>
          <p:cNvSpPr/>
          <p:nvPr/>
        </p:nvSpPr>
        <p:spPr>
          <a:xfrm rot="-8798399">
            <a:off x="-2994864" y="-8645988"/>
            <a:ext cx="9798172" cy="13143890"/>
          </a:xfrm>
          <a:custGeom>
            <a:rect b="b" l="l" r="r" t="t"/>
            <a:pathLst>
              <a:path extrusionOk="0"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9" name="Google Shape;219;p8"/>
          <p:cNvGrpSpPr/>
          <p:nvPr/>
        </p:nvGrpSpPr>
        <p:grpSpPr>
          <a:xfrm>
            <a:off x="1272949" y="1575165"/>
            <a:ext cx="7724203" cy="7821525"/>
            <a:chOff x="0" y="0"/>
            <a:chExt cx="2503009" cy="2534546"/>
          </a:xfrm>
        </p:grpSpPr>
        <p:sp>
          <p:nvSpPr>
            <p:cNvPr id="220" name="Google Shape;220;p8"/>
            <p:cNvSpPr/>
            <p:nvPr/>
          </p:nvSpPr>
          <p:spPr>
            <a:xfrm>
              <a:off x="0" y="0"/>
              <a:ext cx="2503009" cy="2534546"/>
            </a:xfrm>
            <a:custGeom>
              <a:rect b="b" l="l" r="r" t="t"/>
              <a:pathLst>
                <a:path extrusionOk="0" h="2534546" w="2503009">
                  <a:moveTo>
                    <a:pt x="39089" y="0"/>
                  </a:moveTo>
                  <a:lnTo>
                    <a:pt x="2463920" y="0"/>
                  </a:lnTo>
                  <a:cubicBezTo>
                    <a:pt x="2485509" y="0"/>
                    <a:pt x="2503009" y="17501"/>
                    <a:pt x="2503009" y="39089"/>
                  </a:cubicBezTo>
                  <a:lnTo>
                    <a:pt x="2503009" y="2495457"/>
                  </a:lnTo>
                  <a:cubicBezTo>
                    <a:pt x="2503009" y="2517045"/>
                    <a:pt x="2485509" y="2534546"/>
                    <a:pt x="2463920" y="2534546"/>
                  </a:cubicBezTo>
                  <a:lnTo>
                    <a:pt x="39089" y="2534546"/>
                  </a:lnTo>
                  <a:cubicBezTo>
                    <a:pt x="17501" y="2534546"/>
                    <a:pt x="0" y="2517045"/>
                    <a:pt x="0" y="2495457"/>
                  </a:cubicBezTo>
                  <a:lnTo>
                    <a:pt x="0" y="39089"/>
                  </a:lnTo>
                  <a:cubicBezTo>
                    <a:pt x="0" y="17501"/>
                    <a:pt x="17501" y="0"/>
                    <a:pt x="39089" y="0"/>
                  </a:cubicBezTo>
                  <a:close/>
                </a:path>
              </a:pathLst>
            </a:custGeom>
            <a:solidFill>
              <a:srgbClr val="2537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0" y="9525"/>
              <a:ext cx="2503009" cy="252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8"/>
          <p:cNvSpPr txBox="1"/>
          <p:nvPr/>
        </p:nvSpPr>
        <p:spPr>
          <a:xfrm>
            <a:off x="1616975" y="1867325"/>
            <a:ext cx="7036200" cy="7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Precisión del sistema de detección: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DE8E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Meta: &gt; 85% de aciertos en identificación de</a:t>
            </a:r>
            <a:r>
              <a:rPr lang="en-US" sz="3000">
                <a:solidFill>
                  <a:srgbClr val="EDE8E4"/>
                </a:solidFill>
              </a:rPr>
              <a:t>l contacto mas cercano</a:t>
            </a:r>
            <a:r>
              <a:rPr b="0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 reales vs. falsos positivos.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Tiempo de respuesta de alertas: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DE8E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Meta: envío de SMS/WhatsApp con ubicación en &lt; 10 segundos tras la detección.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Disponibilidad del sistema (uptime):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DE8E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Meta: &gt; 95% de disponibilidad en pruebas controladas.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EDE8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 rot="9961243">
            <a:off x="12217193" y="-3026777"/>
            <a:ext cx="10084214" cy="8727429"/>
          </a:xfrm>
          <a:custGeom>
            <a:rect b="b" l="l" r="r" t="t"/>
            <a:pathLst>
              <a:path extrusionOk="0" h="8727429" w="10084214">
                <a:moveTo>
                  <a:pt x="0" y="0"/>
                </a:moveTo>
                <a:lnTo>
                  <a:pt x="10084214" y="0"/>
                </a:lnTo>
                <a:lnTo>
                  <a:pt x="10084214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8"/>
          <p:cNvSpPr/>
          <p:nvPr/>
        </p:nvSpPr>
        <p:spPr>
          <a:xfrm rot="-976001">
            <a:off x="-4614341" y="5979010"/>
            <a:ext cx="9228681" cy="7987004"/>
          </a:xfrm>
          <a:custGeom>
            <a:rect b="b" l="l" r="r" t="t"/>
            <a:pathLst>
              <a:path extrusionOk="0" h="7987004" w="9228681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8"/>
          <p:cNvSpPr txBox="1"/>
          <p:nvPr/>
        </p:nvSpPr>
        <p:spPr>
          <a:xfrm>
            <a:off x="273689" y="337126"/>
            <a:ext cx="14672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/>
          </a:p>
        </p:txBody>
      </p:sp>
      <p:grpSp>
        <p:nvGrpSpPr>
          <p:cNvPr id="226" name="Google Shape;226;p8"/>
          <p:cNvGrpSpPr/>
          <p:nvPr/>
        </p:nvGrpSpPr>
        <p:grpSpPr>
          <a:xfrm>
            <a:off x="9535097" y="1575165"/>
            <a:ext cx="7724203" cy="7821525"/>
            <a:chOff x="0" y="0"/>
            <a:chExt cx="2503009" cy="2534546"/>
          </a:xfrm>
        </p:grpSpPr>
        <p:sp>
          <p:nvSpPr>
            <p:cNvPr id="227" name="Google Shape;227;p8"/>
            <p:cNvSpPr/>
            <p:nvPr/>
          </p:nvSpPr>
          <p:spPr>
            <a:xfrm>
              <a:off x="0" y="0"/>
              <a:ext cx="2503009" cy="2534546"/>
            </a:xfrm>
            <a:custGeom>
              <a:rect b="b" l="l" r="r" t="t"/>
              <a:pathLst>
                <a:path extrusionOk="0" h="2534546" w="2503009">
                  <a:moveTo>
                    <a:pt x="39089" y="0"/>
                  </a:moveTo>
                  <a:lnTo>
                    <a:pt x="2463920" y="0"/>
                  </a:lnTo>
                  <a:cubicBezTo>
                    <a:pt x="2485509" y="0"/>
                    <a:pt x="2503009" y="17501"/>
                    <a:pt x="2503009" y="39089"/>
                  </a:cubicBezTo>
                  <a:lnTo>
                    <a:pt x="2503009" y="2495457"/>
                  </a:lnTo>
                  <a:cubicBezTo>
                    <a:pt x="2503009" y="2517045"/>
                    <a:pt x="2485509" y="2534546"/>
                    <a:pt x="2463920" y="2534546"/>
                  </a:cubicBezTo>
                  <a:lnTo>
                    <a:pt x="39089" y="2534546"/>
                  </a:lnTo>
                  <a:cubicBezTo>
                    <a:pt x="17501" y="2534546"/>
                    <a:pt x="0" y="2517045"/>
                    <a:pt x="0" y="2495457"/>
                  </a:cubicBezTo>
                  <a:lnTo>
                    <a:pt x="0" y="39089"/>
                  </a:lnTo>
                  <a:cubicBezTo>
                    <a:pt x="0" y="17501"/>
                    <a:pt x="17501" y="0"/>
                    <a:pt x="39089" y="0"/>
                  </a:cubicBezTo>
                  <a:close/>
                </a:path>
              </a:pathLst>
            </a:custGeom>
            <a:solidFill>
              <a:srgbClr val="2537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8"/>
            <p:cNvSpPr txBox="1"/>
            <p:nvPr/>
          </p:nvSpPr>
          <p:spPr>
            <a:xfrm>
              <a:off x="0" y="9525"/>
              <a:ext cx="2503009" cy="2525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8"/>
          <p:cNvSpPr txBox="1"/>
          <p:nvPr/>
        </p:nvSpPr>
        <p:spPr>
          <a:xfrm>
            <a:off x="9879125" y="1781375"/>
            <a:ext cx="7036200" cy="7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Interfaz accesible validada: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DE8E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Meta: &gt; 90% de adultos mayores en pruebas piloto perciben la app como clara y fácil de usar.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Eficiencia energética: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DE8E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Meta: consumo de batería &lt; 5% en 8 horas de uso continuo en segundo plano.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Pruebas de validación:</a:t>
            </a:r>
            <a:endParaRPr/>
          </a:p>
          <a:p>
            <a:pPr indent="-323850" lvl="1" marL="6477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DE8E4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Meta: completar &gt; </a:t>
            </a:r>
            <a:r>
              <a:rPr lang="en-US" sz="3000">
                <a:solidFill>
                  <a:srgbClr val="EDE8E4"/>
                </a:solidFill>
              </a:rPr>
              <a:t>10 </a:t>
            </a:r>
            <a:r>
              <a:rPr b="0" i="0" lang="en-US" sz="3000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simulaciones exitosas en entorno controlado.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EDE8E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949d29e89_0_4"/>
          <p:cNvSpPr txBox="1"/>
          <p:nvPr/>
        </p:nvSpPr>
        <p:spPr>
          <a:xfrm>
            <a:off x="7386300" y="4126750"/>
            <a:ext cx="861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949d29e89_0_8"/>
          <p:cNvSpPr txBox="1"/>
          <p:nvPr/>
        </p:nvSpPr>
        <p:spPr>
          <a:xfrm>
            <a:off x="6100425" y="3648300"/>
            <a:ext cx="861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 en vivo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3754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/>
          <p:nvPr/>
        </p:nvSpPr>
        <p:spPr>
          <a:xfrm>
            <a:off x="-2168237" y="-4818587"/>
            <a:ext cx="8535602" cy="7976908"/>
          </a:xfrm>
          <a:custGeom>
            <a:rect b="b" l="l" r="r" t="t"/>
            <a:pathLst>
              <a:path extrusionOk="0" h="7976908" w="8535602">
                <a:moveTo>
                  <a:pt x="0" y="0"/>
                </a:moveTo>
                <a:lnTo>
                  <a:pt x="8535601" y="0"/>
                </a:lnTo>
                <a:lnTo>
                  <a:pt x="8535601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9"/>
          <p:cNvSpPr/>
          <p:nvPr/>
        </p:nvSpPr>
        <p:spPr>
          <a:xfrm rot="-10151301">
            <a:off x="11164674" y="6546853"/>
            <a:ext cx="8535602" cy="7976908"/>
          </a:xfrm>
          <a:custGeom>
            <a:rect b="b" l="l" r="r" t="t"/>
            <a:pathLst>
              <a:path extrusionOk="0"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9"/>
          <p:cNvSpPr txBox="1"/>
          <p:nvPr/>
        </p:nvSpPr>
        <p:spPr>
          <a:xfrm>
            <a:off x="3221385" y="4695970"/>
            <a:ext cx="113316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71" u="none" cap="none" strike="noStrike">
                <a:solidFill>
                  <a:srgbClr val="EDE8E4"/>
                </a:solidFill>
                <a:latin typeface="Arial"/>
                <a:ea typeface="Arial"/>
                <a:cs typeface="Arial"/>
                <a:sym typeface="Arial"/>
              </a:rPr>
              <a:t>MUCHAS GRACIAS!</a:t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-800991" y="7841762"/>
            <a:ext cx="5482705" cy="4884592"/>
          </a:xfrm>
          <a:custGeom>
            <a:rect b="b" l="l" r="r" t="t"/>
            <a:pathLst>
              <a:path extrusionOk="0" h="4884592" w="5482705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9"/>
          <p:cNvSpPr/>
          <p:nvPr/>
        </p:nvSpPr>
        <p:spPr>
          <a:xfrm rot="10452176">
            <a:off x="15012576" y="-2759682"/>
            <a:ext cx="5482705" cy="4884592"/>
          </a:xfrm>
          <a:custGeom>
            <a:rect b="b" l="l" r="r" t="t"/>
            <a:pathLst>
              <a:path extrusionOk="0" h="4884592" w="5482705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